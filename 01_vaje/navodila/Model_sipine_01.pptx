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8" r:id="rId8"/>
    <p:sldId id="272" r:id="rId9"/>
    <p:sldId id="273" r:id="rId10"/>
    <p:sldId id="274" r:id="rId11"/>
    <p:sldId id="275" r:id="rId12"/>
    <p:sldId id="276" r:id="rId13"/>
    <p:sldId id="277" r:id="rId14"/>
    <p:sldId id="269" r:id="rId15"/>
    <p:sldId id="278" r:id="rId16"/>
  </p:sldIdLst>
  <p:sldSz cx="12192000" cy="6858000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Gill Sans MT" panose="020B0502020104020203" pitchFamily="34" charset="-18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vzeti razdelek" id="{7F4EC85B-9E53-4C43-9A16-51123EA7F4CC}">
          <p14:sldIdLst>
            <p14:sldId id="256"/>
            <p14:sldId id="257"/>
            <p14:sldId id="263"/>
            <p14:sldId id="264"/>
            <p14:sldId id="265"/>
            <p14:sldId id="266"/>
            <p14:sldId id="268"/>
          </p14:sldIdLst>
        </p14:section>
        <p14:section name="2. DEL" id="{AA40C3B4-0E9C-4871-8E6E-B1CE7BE55364}">
          <p14:sldIdLst>
            <p14:sldId id="272"/>
            <p14:sldId id="273"/>
            <p14:sldId id="274"/>
            <p14:sldId id="275"/>
            <p14:sldId id="276"/>
            <p14:sldId id="277"/>
            <p14:sldId id="269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993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49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2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90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34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95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88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6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2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61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71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38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60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60.pn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374AA0-CE8E-44F5-938E-99E18581C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2366108"/>
            <a:ext cx="8637073" cy="977621"/>
          </a:xfrm>
        </p:spPr>
        <p:txBody>
          <a:bodyPr>
            <a:normAutofit fontScale="90000"/>
          </a:bodyPr>
          <a:lstStyle/>
          <a:p>
            <a:pPr algn="ctr"/>
            <a:br>
              <a:rPr lang="sl-SI" dirty="0"/>
            </a:br>
            <a:r>
              <a:rPr lang="sl-SI" dirty="0"/>
              <a:t>Peščeni plazovi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CF7C38B9-2193-404B-8386-B5E5481B9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1254"/>
            <a:ext cx="8637072" cy="620528"/>
          </a:xfrm>
        </p:spPr>
        <p:txBody>
          <a:bodyPr/>
          <a:lstStyle/>
          <a:p>
            <a:pPr algn="ctr"/>
            <a:r>
              <a:rPr lang="sl-SI" dirty="0"/>
              <a:t>Doc. dr. rene </a:t>
            </a:r>
            <a:r>
              <a:rPr lang="sl-SI" dirty="0" err="1"/>
              <a:t>markovič</a:t>
            </a:r>
            <a:endParaRPr lang="sl-SI" dirty="0"/>
          </a:p>
        </p:txBody>
      </p:sp>
      <p:sp>
        <p:nvSpPr>
          <p:cNvPr id="4" name="PoljeZBesedilom 3">
            <a:extLst>
              <a:ext uri="{FF2B5EF4-FFF2-40B4-BE49-F238E27FC236}">
                <a16:creationId xmlns:a16="http://schemas.microsoft.com/office/drawing/2014/main" id="{049333C4-2369-49FD-9B90-FC3FE19053C6}"/>
              </a:ext>
            </a:extLst>
          </p:cNvPr>
          <p:cNvSpPr txBox="1"/>
          <p:nvPr/>
        </p:nvSpPr>
        <p:spPr>
          <a:xfrm>
            <a:off x="5637402" y="2973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l-SI" dirty="0"/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7E749E65-45BE-436E-A675-B11C8B225BF4}"/>
              </a:ext>
            </a:extLst>
          </p:cNvPr>
          <p:cNvSpPr txBox="1"/>
          <p:nvPr/>
        </p:nvSpPr>
        <p:spPr>
          <a:xfrm>
            <a:off x="5730613" y="1215413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b="1" dirty="0"/>
              <a:t>Modelska fizika</a:t>
            </a:r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9079FA1-DAFE-E6C5-0666-0E21551FBCAF}"/>
              </a:ext>
            </a:extLst>
          </p:cNvPr>
          <p:cNvSpPr txBox="1"/>
          <p:nvPr/>
        </p:nvSpPr>
        <p:spPr>
          <a:xfrm>
            <a:off x="3799068" y="116847"/>
            <a:ext cx="5874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Fakulteta za naravoslovje in matematiko Univerza v Mariboru</a:t>
            </a:r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10E01D14-F230-C861-0C24-DC5F8DABBBC9}"/>
              </a:ext>
            </a:extLst>
          </p:cNvPr>
          <p:cNvSpPr txBox="1"/>
          <p:nvPr/>
        </p:nvSpPr>
        <p:spPr>
          <a:xfrm>
            <a:off x="5754145" y="486179"/>
            <a:ext cx="1799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Oddelek za fiziko</a:t>
            </a:r>
          </a:p>
        </p:txBody>
      </p:sp>
    </p:spTree>
    <p:extLst>
      <p:ext uri="{BB962C8B-B14F-4D97-AF65-F5344CB8AC3E}">
        <p14:creationId xmlns:p14="http://schemas.microsoft.com/office/powerpoint/2010/main" val="28626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883D4AF-8F48-4FC7-9828-8192389B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50" y="1271215"/>
            <a:ext cx="3671263" cy="503340"/>
          </a:xfrm>
        </p:spPr>
        <p:txBody>
          <a:bodyPr>
            <a:normAutofit fontScale="90000"/>
          </a:bodyPr>
          <a:lstStyle/>
          <a:p>
            <a:r>
              <a:rPr lang="sl-SI" dirty="0"/>
              <a:t>Kaj bomo počeli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AF39BD7-E206-4A66-B667-4C77C2929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245356" cy="2388317"/>
          </a:xfrm>
        </p:spPr>
        <p:txBody>
          <a:bodyPr>
            <a:normAutofit lnSpcReduction="10000"/>
          </a:bodyPr>
          <a:lstStyle/>
          <a:p>
            <a:r>
              <a:rPr lang="sl-SI" dirty="0"/>
              <a:t>Rekurzivna funkcije</a:t>
            </a:r>
          </a:p>
          <a:p>
            <a:r>
              <a:rPr lang="sl-SI" dirty="0" err="1"/>
              <a:t>Agentno</a:t>
            </a:r>
            <a:r>
              <a:rPr lang="sl-SI" dirty="0"/>
              <a:t> modeliranje</a:t>
            </a:r>
          </a:p>
          <a:p>
            <a:r>
              <a:rPr lang="sl-SI" dirty="0"/>
              <a:t>Izračun porazdelitve velikosti dogodkov</a:t>
            </a:r>
          </a:p>
          <a:p>
            <a:r>
              <a:rPr lang="sl-SI" dirty="0"/>
              <a:t>Prilagajanje funkcije porazdelitvi</a:t>
            </a:r>
          </a:p>
          <a:p>
            <a:r>
              <a:rPr lang="sl-SI" dirty="0" err="1"/>
              <a:t>Animiranje</a:t>
            </a:r>
            <a:r>
              <a:rPr lang="sl-SI" dirty="0"/>
              <a:t> simulacije</a:t>
            </a:r>
          </a:p>
          <a:p>
            <a:endParaRPr lang="sl-SI" dirty="0"/>
          </a:p>
        </p:txBody>
      </p:sp>
      <p:grpSp>
        <p:nvGrpSpPr>
          <p:cNvPr id="15" name="Analytics9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8A51731-4278-4A1B-900E-F3E8BBE651F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46365" y="2162438"/>
            <a:ext cx="2860704" cy="2428446"/>
            <a:chOff x="4157663" y="1574800"/>
            <a:chExt cx="935038" cy="793750"/>
          </a:xfrm>
          <a:solidFill>
            <a:schemeClr val="bg1">
              <a:lumMod val="85000"/>
            </a:schemeClr>
          </a:solidFill>
        </p:grpSpPr>
        <p:sp>
          <p:nvSpPr>
            <p:cNvPr id="16" name="Freeform 127">
              <a:extLst>
                <a:ext uri="{FF2B5EF4-FFF2-40B4-BE49-F238E27FC236}">
                  <a16:creationId xmlns:a16="http://schemas.microsoft.com/office/drawing/2014/main" id="{05726D7A-8859-46B8-BE15-2975D4C7E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663" y="1846262"/>
              <a:ext cx="306388" cy="177800"/>
            </a:xfrm>
            <a:custGeom>
              <a:avLst/>
              <a:gdLst>
                <a:gd name="T0" fmla="*/ 74 w 402"/>
                <a:gd name="T1" fmla="*/ 196 h 233"/>
                <a:gd name="T2" fmla="*/ 72 w 402"/>
                <a:gd name="T3" fmla="*/ 184 h 233"/>
                <a:gd name="T4" fmla="*/ 127 w 402"/>
                <a:gd name="T5" fmla="*/ 122 h 233"/>
                <a:gd name="T6" fmla="*/ 142 w 402"/>
                <a:gd name="T7" fmla="*/ 126 h 233"/>
                <a:gd name="T8" fmla="*/ 172 w 402"/>
                <a:gd name="T9" fmla="*/ 110 h 233"/>
                <a:gd name="T10" fmla="*/ 240 w 402"/>
                <a:gd name="T11" fmla="*/ 134 h 233"/>
                <a:gd name="T12" fmla="*/ 240 w 402"/>
                <a:gd name="T13" fmla="*/ 134 h 233"/>
                <a:gd name="T14" fmla="*/ 277 w 402"/>
                <a:gd name="T15" fmla="*/ 171 h 233"/>
                <a:gd name="T16" fmla="*/ 314 w 402"/>
                <a:gd name="T17" fmla="*/ 134 h 233"/>
                <a:gd name="T18" fmla="*/ 310 w 402"/>
                <a:gd name="T19" fmla="*/ 118 h 233"/>
                <a:gd name="T20" fmla="*/ 354 w 402"/>
                <a:gd name="T21" fmla="*/ 72 h 233"/>
                <a:gd name="T22" fmla="*/ 365 w 402"/>
                <a:gd name="T23" fmla="*/ 74 h 233"/>
                <a:gd name="T24" fmla="*/ 402 w 402"/>
                <a:gd name="T25" fmla="*/ 37 h 233"/>
                <a:gd name="T26" fmla="*/ 365 w 402"/>
                <a:gd name="T27" fmla="*/ 0 h 233"/>
                <a:gd name="T28" fmla="*/ 329 w 402"/>
                <a:gd name="T29" fmla="*/ 37 h 233"/>
                <a:gd name="T30" fmla="*/ 331 w 402"/>
                <a:gd name="T31" fmla="*/ 50 h 233"/>
                <a:gd name="T32" fmla="*/ 285 w 402"/>
                <a:gd name="T33" fmla="*/ 99 h 233"/>
                <a:gd name="T34" fmla="*/ 277 w 402"/>
                <a:gd name="T35" fmla="*/ 97 h 233"/>
                <a:gd name="T36" fmla="*/ 254 w 402"/>
                <a:gd name="T37" fmla="*/ 105 h 233"/>
                <a:gd name="T38" fmla="*/ 177 w 402"/>
                <a:gd name="T39" fmla="*/ 78 h 233"/>
                <a:gd name="T40" fmla="*/ 142 w 402"/>
                <a:gd name="T41" fmla="*/ 52 h 233"/>
                <a:gd name="T42" fmla="*/ 105 w 402"/>
                <a:gd name="T43" fmla="*/ 89 h 233"/>
                <a:gd name="T44" fmla="*/ 106 w 402"/>
                <a:gd name="T45" fmla="*/ 98 h 233"/>
                <a:gd name="T46" fmla="*/ 50 w 402"/>
                <a:gd name="T47" fmla="*/ 162 h 233"/>
                <a:gd name="T48" fmla="*/ 37 w 402"/>
                <a:gd name="T49" fmla="*/ 159 h 233"/>
                <a:gd name="T50" fmla="*/ 0 w 402"/>
                <a:gd name="T51" fmla="*/ 196 h 233"/>
                <a:gd name="T52" fmla="*/ 37 w 402"/>
                <a:gd name="T53" fmla="*/ 233 h 233"/>
                <a:gd name="T54" fmla="*/ 74 w 402"/>
                <a:gd name="T55" fmla="*/ 196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2" h="233">
                  <a:moveTo>
                    <a:pt x="74" y="196"/>
                  </a:moveTo>
                  <a:cubicBezTo>
                    <a:pt x="74" y="192"/>
                    <a:pt x="73" y="188"/>
                    <a:pt x="72" y="184"/>
                  </a:cubicBezTo>
                  <a:lnTo>
                    <a:pt x="127" y="122"/>
                  </a:lnTo>
                  <a:cubicBezTo>
                    <a:pt x="131" y="124"/>
                    <a:pt x="136" y="126"/>
                    <a:pt x="142" y="126"/>
                  </a:cubicBezTo>
                  <a:cubicBezTo>
                    <a:pt x="154" y="126"/>
                    <a:pt x="165" y="119"/>
                    <a:pt x="172" y="110"/>
                  </a:cubicBezTo>
                  <a:lnTo>
                    <a:pt x="240" y="134"/>
                  </a:lnTo>
                  <a:cubicBezTo>
                    <a:pt x="240" y="134"/>
                    <a:pt x="240" y="134"/>
                    <a:pt x="240" y="134"/>
                  </a:cubicBezTo>
                  <a:cubicBezTo>
                    <a:pt x="240" y="155"/>
                    <a:pt x="257" y="171"/>
                    <a:pt x="277" y="171"/>
                  </a:cubicBezTo>
                  <a:cubicBezTo>
                    <a:pt x="297" y="171"/>
                    <a:pt x="314" y="155"/>
                    <a:pt x="314" y="134"/>
                  </a:cubicBezTo>
                  <a:cubicBezTo>
                    <a:pt x="314" y="128"/>
                    <a:pt x="312" y="123"/>
                    <a:pt x="310" y="118"/>
                  </a:cubicBezTo>
                  <a:lnTo>
                    <a:pt x="354" y="72"/>
                  </a:lnTo>
                  <a:cubicBezTo>
                    <a:pt x="357" y="73"/>
                    <a:pt x="361" y="74"/>
                    <a:pt x="365" y="74"/>
                  </a:cubicBezTo>
                  <a:cubicBezTo>
                    <a:pt x="386" y="74"/>
                    <a:pt x="402" y="57"/>
                    <a:pt x="402" y="37"/>
                  </a:cubicBezTo>
                  <a:cubicBezTo>
                    <a:pt x="402" y="17"/>
                    <a:pt x="386" y="0"/>
                    <a:pt x="365" y="0"/>
                  </a:cubicBezTo>
                  <a:cubicBezTo>
                    <a:pt x="345" y="0"/>
                    <a:pt x="329" y="17"/>
                    <a:pt x="329" y="37"/>
                  </a:cubicBezTo>
                  <a:cubicBezTo>
                    <a:pt x="329" y="42"/>
                    <a:pt x="329" y="46"/>
                    <a:pt x="331" y="50"/>
                  </a:cubicBezTo>
                  <a:lnTo>
                    <a:pt x="285" y="99"/>
                  </a:lnTo>
                  <a:cubicBezTo>
                    <a:pt x="283" y="98"/>
                    <a:pt x="280" y="97"/>
                    <a:pt x="277" y="97"/>
                  </a:cubicBezTo>
                  <a:cubicBezTo>
                    <a:pt x="268" y="97"/>
                    <a:pt x="261" y="101"/>
                    <a:pt x="254" y="105"/>
                  </a:cubicBezTo>
                  <a:lnTo>
                    <a:pt x="177" y="78"/>
                  </a:lnTo>
                  <a:cubicBezTo>
                    <a:pt x="172" y="63"/>
                    <a:pt x="158" y="52"/>
                    <a:pt x="142" y="52"/>
                  </a:cubicBezTo>
                  <a:cubicBezTo>
                    <a:pt x="121" y="52"/>
                    <a:pt x="105" y="68"/>
                    <a:pt x="105" y="89"/>
                  </a:cubicBezTo>
                  <a:cubicBezTo>
                    <a:pt x="105" y="92"/>
                    <a:pt x="106" y="95"/>
                    <a:pt x="106" y="98"/>
                  </a:cubicBezTo>
                  <a:lnTo>
                    <a:pt x="50" y="162"/>
                  </a:lnTo>
                  <a:cubicBezTo>
                    <a:pt x="46" y="160"/>
                    <a:pt x="42" y="159"/>
                    <a:pt x="37" y="159"/>
                  </a:cubicBezTo>
                  <a:cubicBezTo>
                    <a:pt x="17" y="159"/>
                    <a:pt x="0" y="175"/>
                    <a:pt x="0" y="196"/>
                  </a:cubicBezTo>
                  <a:cubicBezTo>
                    <a:pt x="0" y="216"/>
                    <a:pt x="17" y="233"/>
                    <a:pt x="37" y="233"/>
                  </a:cubicBezTo>
                  <a:cubicBezTo>
                    <a:pt x="57" y="233"/>
                    <a:pt x="74" y="216"/>
                    <a:pt x="74" y="1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28">
              <a:extLst>
                <a:ext uri="{FF2B5EF4-FFF2-40B4-BE49-F238E27FC236}">
                  <a16:creationId xmlns:a16="http://schemas.microsoft.com/office/drawing/2014/main" id="{9E1871B3-0386-4570-8CDC-E10ACB854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1662112"/>
              <a:ext cx="46038" cy="1270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29">
              <a:extLst>
                <a:ext uri="{FF2B5EF4-FFF2-40B4-BE49-F238E27FC236}">
                  <a16:creationId xmlns:a16="http://schemas.microsoft.com/office/drawing/2014/main" id="{72F28B61-3F0C-43C1-A3FD-1E23BB373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201" y="1630362"/>
              <a:ext cx="47625" cy="1587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130">
              <a:extLst>
                <a:ext uri="{FF2B5EF4-FFF2-40B4-BE49-F238E27FC236}">
                  <a16:creationId xmlns:a16="http://schemas.microsoft.com/office/drawing/2014/main" id="{DFBCCF4F-8520-4AB3-9081-B4D09EC9C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238" y="1574800"/>
              <a:ext cx="46038" cy="21431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31">
              <a:extLst>
                <a:ext uri="{FF2B5EF4-FFF2-40B4-BE49-F238E27FC236}">
                  <a16:creationId xmlns:a16="http://schemas.microsoft.com/office/drawing/2014/main" id="{55E104C1-6BE0-4362-9543-72669943F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888" y="1701800"/>
              <a:ext cx="130175" cy="222250"/>
            </a:xfrm>
            <a:custGeom>
              <a:avLst/>
              <a:gdLst>
                <a:gd name="T0" fmla="*/ 57 w 170"/>
                <a:gd name="T1" fmla="*/ 61 h 292"/>
                <a:gd name="T2" fmla="*/ 64 w 170"/>
                <a:gd name="T3" fmla="*/ 292 h 292"/>
                <a:gd name="T4" fmla="*/ 170 w 170"/>
                <a:gd name="T5" fmla="*/ 165 h 292"/>
                <a:gd name="T6" fmla="*/ 170 w 170"/>
                <a:gd name="T7" fmla="*/ 0 h 292"/>
                <a:gd name="T8" fmla="*/ 57 w 170"/>
                <a:gd name="T9" fmla="*/ 61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292">
                  <a:moveTo>
                    <a:pt x="57" y="61"/>
                  </a:moveTo>
                  <a:cubicBezTo>
                    <a:pt x="0" y="129"/>
                    <a:pt x="4" y="229"/>
                    <a:pt x="64" y="292"/>
                  </a:cubicBezTo>
                  <a:lnTo>
                    <a:pt x="170" y="165"/>
                  </a:lnTo>
                  <a:lnTo>
                    <a:pt x="170" y="0"/>
                  </a:lnTo>
                  <a:cubicBezTo>
                    <a:pt x="125" y="5"/>
                    <a:pt x="87" y="25"/>
                    <a:pt x="57" y="6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32">
              <a:extLst>
                <a:ext uri="{FF2B5EF4-FFF2-40B4-BE49-F238E27FC236}">
                  <a16:creationId xmlns:a16="http://schemas.microsoft.com/office/drawing/2014/main" id="{D5568CAA-0DBC-4314-9DA1-82DE17817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913" y="1851025"/>
              <a:ext cx="200025" cy="115888"/>
            </a:xfrm>
            <a:custGeom>
              <a:avLst/>
              <a:gdLst>
                <a:gd name="T0" fmla="*/ 103 w 261"/>
                <a:gd name="T1" fmla="*/ 0 h 151"/>
                <a:gd name="T2" fmla="*/ 0 w 261"/>
                <a:gd name="T3" fmla="*/ 123 h 151"/>
                <a:gd name="T4" fmla="*/ 64 w 261"/>
                <a:gd name="T5" fmla="*/ 148 h 151"/>
                <a:gd name="T6" fmla="*/ 95 w 261"/>
                <a:gd name="T7" fmla="*/ 151 h 151"/>
                <a:gd name="T8" fmla="*/ 261 w 261"/>
                <a:gd name="T9" fmla="*/ 27 h 151"/>
                <a:gd name="T10" fmla="*/ 103 w 261"/>
                <a:gd name="T1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1" h="151">
                  <a:moveTo>
                    <a:pt x="103" y="0"/>
                  </a:moveTo>
                  <a:lnTo>
                    <a:pt x="0" y="123"/>
                  </a:lnTo>
                  <a:cubicBezTo>
                    <a:pt x="19" y="136"/>
                    <a:pt x="40" y="144"/>
                    <a:pt x="64" y="148"/>
                  </a:cubicBezTo>
                  <a:cubicBezTo>
                    <a:pt x="75" y="150"/>
                    <a:pt x="85" y="151"/>
                    <a:pt x="95" y="151"/>
                  </a:cubicBezTo>
                  <a:cubicBezTo>
                    <a:pt x="172" y="151"/>
                    <a:pt x="239" y="100"/>
                    <a:pt x="261" y="27"/>
                  </a:cubicBezTo>
                  <a:lnTo>
                    <a:pt x="103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3">
              <a:extLst>
                <a:ext uri="{FF2B5EF4-FFF2-40B4-BE49-F238E27FC236}">
                  <a16:creationId xmlns:a16="http://schemas.microsoft.com/office/drawing/2014/main" id="{432B044C-F79F-4751-8A87-326FDD2F2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813" y="1701800"/>
              <a:ext cx="115888" cy="138113"/>
            </a:xfrm>
            <a:custGeom>
              <a:avLst/>
              <a:gdLst>
                <a:gd name="T0" fmla="*/ 0 w 153"/>
                <a:gd name="T1" fmla="*/ 0 h 182"/>
                <a:gd name="T2" fmla="*/ 0 w 153"/>
                <a:gd name="T3" fmla="*/ 155 h 182"/>
                <a:gd name="T4" fmla="*/ 152 w 153"/>
                <a:gd name="T5" fmla="*/ 182 h 182"/>
                <a:gd name="T6" fmla="*/ 153 w 153"/>
                <a:gd name="T7" fmla="*/ 173 h 182"/>
                <a:gd name="T8" fmla="*/ 0 w 153"/>
                <a:gd name="T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182">
                  <a:moveTo>
                    <a:pt x="0" y="0"/>
                  </a:moveTo>
                  <a:lnTo>
                    <a:pt x="0" y="155"/>
                  </a:lnTo>
                  <a:lnTo>
                    <a:pt x="152" y="182"/>
                  </a:lnTo>
                  <a:cubicBezTo>
                    <a:pt x="153" y="179"/>
                    <a:pt x="153" y="176"/>
                    <a:pt x="153" y="173"/>
                  </a:cubicBezTo>
                  <a:cubicBezTo>
                    <a:pt x="153" y="84"/>
                    <a:pt x="86" y="11"/>
                    <a:pt x="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134">
              <a:extLst>
                <a:ext uri="{FF2B5EF4-FFF2-40B4-BE49-F238E27FC236}">
                  <a16:creationId xmlns:a16="http://schemas.microsoft.com/office/drawing/2014/main" id="{5D9256B8-8B16-4D45-8C71-38DC3C85F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1" y="1604962"/>
              <a:ext cx="296863" cy="2968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135">
              <a:extLst>
                <a:ext uri="{FF2B5EF4-FFF2-40B4-BE49-F238E27FC236}">
                  <a16:creationId xmlns:a16="http://schemas.microsoft.com/office/drawing/2014/main" id="{C1EDB463-753A-4E5F-B3B1-3602E14505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0063" y="1925637"/>
              <a:ext cx="668338" cy="442913"/>
            </a:xfrm>
            <a:custGeom>
              <a:avLst/>
              <a:gdLst>
                <a:gd name="T0" fmla="*/ 697 w 879"/>
                <a:gd name="T1" fmla="*/ 542 h 580"/>
                <a:gd name="T2" fmla="*/ 181 w 879"/>
                <a:gd name="T3" fmla="*/ 542 h 580"/>
                <a:gd name="T4" fmla="*/ 181 w 879"/>
                <a:gd name="T5" fmla="*/ 223 h 580"/>
                <a:gd name="T6" fmla="*/ 201 w 879"/>
                <a:gd name="T7" fmla="*/ 203 h 580"/>
                <a:gd name="T8" fmla="*/ 677 w 879"/>
                <a:gd name="T9" fmla="*/ 203 h 580"/>
                <a:gd name="T10" fmla="*/ 697 w 879"/>
                <a:gd name="T11" fmla="*/ 223 h 580"/>
                <a:gd name="T12" fmla="*/ 697 w 879"/>
                <a:gd name="T13" fmla="*/ 542 h 580"/>
                <a:gd name="T14" fmla="*/ 562 w 879"/>
                <a:gd name="T15" fmla="*/ 4 h 580"/>
                <a:gd name="T16" fmla="*/ 439 w 879"/>
                <a:gd name="T17" fmla="*/ 101 h 580"/>
                <a:gd name="T18" fmla="*/ 312 w 879"/>
                <a:gd name="T19" fmla="*/ 0 h 580"/>
                <a:gd name="T20" fmla="*/ 96 w 879"/>
                <a:gd name="T21" fmla="*/ 241 h 580"/>
                <a:gd name="T22" fmla="*/ 96 w 879"/>
                <a:gd name="T23" fmla="*/ 322 h 580"/>
                <a:gd name="T24" fmla="*/ 0 w 879"/>
                <a:gd name="T25" fmla="*/ 322 h 580"/>
                <a:gd name="T26" fmla="*/ 0 w 879"/>
                <a:gd name="T27" fmla="*/ 371 h 580"/>
                <a:gd name="T28" fmla="*/ 144 w 879"/>
                <a:gd name="T29" fmla="*/ 371 h 580"/>
                <a:gd name="T30" fmla="*/ 144 w 879"/>
                <a:gd name="T31" fmla="*/ 431 h 580"/>
                <a:gd name="T32" fmla="*/ 120 w 879"/>
                <a:gd name="T33" fmla="*/ 431 h 580"/>
                <a:gd name="T34" fmla="*/ 100 w 879"/>
                <a:gd name="T35" fmla="*/ 442 h 580"/>
                <a:gd name="T36" fmla="*/ 97 w 879"/>
                <a:gd name="T37" fmla="*/ 464 h 580"/>
                <a:gd name="T38" fmla="*/ 133 w 879"/>
                <a:gd name="T39" fmla="*/ 563 h 580"/>
                <a:gd name="T40" fmla="*/ 156 w 879"/>
                <a:gd name="T41" fmla="*/ 580 h 580"/>
                <a:gd name="T42" fmla="*/ 722 w 879"/>
                <a:gd name="T43" fmla="*/ 580 h 580"/>
                <a:gd name="T44" fmla="*/ 745 w 879"/>
                <a:gd name="T45" fmla="*/ 563 h 580"/>
                <a:gd name="T46" fmla="*/ 781 w 879"/>
                <a:gd name="T47" fmla="*/ 464 h 580"/>
                <a:gd name="T48" fmla="*/ 779 w 879"/>
                <a:gd name="T49" fmla="*/ 442 h 580"/>
                <a:gd name="T50" fmla="*/ 758 w 879"/>
                <a:gd name="T51" fmla="*/ 431 h 580"/>
                <a:gd name="T52" fmla="*/ 734 w 879"/>
                <a:gd name="T53" fmla="*/ 431 h 580"/>
                <a:gd name="T54" fmla="*/ 734 w 879"/>
                <a:gd name="T55" fmla="*/ 371 h 580"/>
                <a:gd name="T56" fmla="*/ 879 w 879"/>
                <a:gd name="T57" fmla="*/ 371 h 580"/>
                <a:gd name="T58" fmla="*/ 879 w 879"/>
                <a:gd name="T59" fmla="*/ 322 h 580"/>
                <a:gd name="T60" fmla="*/ 782 w 879"/>
                <a:gd name="T61" fmla="*/ 322 h 580"/>
                <a:gd name="T62" fmla="*/ 782 w 879"/>
                <a:gd name="T63" fmla="*/ 241 h 580"/>
                <a:gd name="T64" fmla="*/ 562 w 879"/>
                <a:gd name="T65" fmla="*/ 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79" h="580">
                  <a:moveTo>
                    <a:pt x="697" y="542"/>
                  </a:moveTo>
                  <a:lnTo>
                    <a:pt x="181" y="542"/>
                  </a:lnTo>
                  <a:lnTo>
                    <a:pt x="181" y="223"/>
                  </a:lnTo>
                  <a:cubicBezTo>
                    <a:pt x="181" y="212"/>
                    <a:pt x="190" y="203"/>
                    <a:pt x="201" y="203"/>
                  </a:cubicBezTo>
                  <a:lnTo>
                    <a:pt x="677" y="203"/>
                  </a:lnTo>
                  <a:cubicBezTo>
                    <a:pt x="688" y="203"/>
                    <a:pt x="697" y="212"/>
                    <a:pt x="697" y="223"/>
                  </a:cubicBezTo>
                  <a:lnTo>
                    <a:pt x="697" y="542"/>
                  </a:lnTo>
                  <a:close/>
                  <a:moveTo>
                    <a:pt x="562" y="4"/>
                  </a:moveTo>
                  <a:lnTo>
                    <a:pt x="439" y="101"/>
                  </a:lnTo>
                  <a:lnTo>
                    <a:pt x="312" y="0"/>
                  </a:lnTo>
                  <a:cubicBezTo>
                    <a:pt x="185" y="25"/>
                    <a:pt x="96" y="95"/>
                    <a:pt x="96" y="241"/>
                  </a:cubicBezTo>
                  <a:lnTo>
                    <a:pt x="96" y="322"/>
                  </a:lnTo>
                  <a:lnTo>
                    <a:pt x="0" y="322"/>
                  </a:lnTo>
                  <a:lnTo>
                    <a:pt x="0" y="371"/>
                  </a:lnTo>
                  <a:lnTo>
                    <a:pt x="144" y="371"/>
                  </a:lnTo>
                  <a:lnTo>
                    <a:pt x="144" y="431"/>
                  </a:lnTo>
                  <a:lnTo>
                    <a:pt x="120" y="431"/>
                  </a:lnTo>
                  <a:cubicBezTo>
                    <a:pt x="112" y="431"/>
                    <a:pt x="104" y="435"/>
                    <a:pt x="100" y="442"/>
                  </a:cubicBezTo>
                  <a:cubicBezTo>
                    <a:pt x="95" y="448"/>
                    <a:pt x="94" y="457"/>
                    <a:pt x="97" y="464"/>
                  </a:cubicBezTo>
                  <a:lnTo>
                    <a:pt x="133" y="563"/>
                  </a:lnTo>
                  <a:cubicBezTo>
                    <a:pt x="136" y="573"/>
                    <a:pt x="146" y="580"/>
                    <a:pt x="156" y="580"/>
                  </a:cubicBezTo>
                  <a:lnTo>
                    <a:pt x="722" y="580"/>
                  </a:lnTo>
                  <a:cubicBezTo>
                    <a:pt x="733" y="580"/>
                    <a:pt x="742" y="573"/>
                    <a:pt x="745" y="563"/>
                  </a:cubicBezTo>
                  <a:lnTo>
                    <a:pt x="781" y="464"/>
                  </a:lnTo>
                  <a:cubicBezTo>
                    <a:pt x="784" y="456"/>
                    <a:pt x="783" y="448"/>
                    <a:pt x="779" y="442"/>
                  </a:cubicBezTo>
                  <a:cubicBezTo>
                    <a:pt x="774" y="435"/>
                    <a:pt x="766" y="431"/>
                    <a:pt x="758" y="431"/>
                  </a:cubicBezTo>
                  <a:lnTo>
                    <a:pt x="734" y="431"/>
                  </a:lnTo>
                  <a:lnTo>
                    <a:pt x="734" y="371"/>
                  </a:lnTo>
                  <a:lnTo>
                    <a:pt x="879" y="371"/>
                  </a:lnTo>
                  <a:lnTo>
                    <a:pt x="879" y="322"/>
                  </a:lnTo>
                  <a:lnTo>
                    <a:pt x="782" y="322"/>
                  </a:lnTo>
                  <a:lnTo>
                    <a:pt x="782" y="241"/>
                  </a:lnTo>
                  <a:cubicBezTo>
                    <a:pt x="782" y="118"/>
                    <a:pt x="691" y="35"/>
                    <a:pt x="562" y="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136">
              <a:extLst>
                <a:ext uri="{FF2B5EF4-FFF2-40B4-BE49-F238E27FC236}">
                  <a16:creationId xmlns:a16="http://schemas.microsoft.com/office/drawing/2014/main" id="{35A5C439-43D7-44D9-9FEA-DD278D6AB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101" y="2179637"/>
              <a:ext cx="68263" cy="698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Analytics9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D08A2546-F94C-41BB-B2EA-704952B4C943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6771650" y="2143388"/>
            <a:ext cx="2860704" cy="2428446"/>
            <a:chOff x="4157663" y="1574800"/>
            <a:chExt cx="935038" cy="79375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7" name="Freeform 127">
              <a:extLst>
                <a:ext uri="{FF2B5EF4-FFF2-40B4-BE49-F238E27FC236}">
                  <a16:creationId xmlns:a16="http://schemas.microsoft.com/office/drawing/2014/main" id="{FE3C351B-9DAB-4990-BC3A-7EA9E833F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663" y="1846262"/>
              <a:ext cx="306388" cy="177800"/>
            </a:xfrm>
            <a:custGeom>
              <a:avLst/>
              <a:gdLst>
                <a:gd name="T0" fmla="*/ 74 w 402"/>
                <a:gd name="T1" fmla="*/ 196 h 233"/>
                <a:gd name="T2" fmla="*/ 72 w 402"/>
                <a:gd name="T3" fmla="*/ 184 h 233"/>
                <a:gd name="T4" fmla="*/ 127 w 402"/>
                <a:gd name="T5" fmla="*/ 122 h 233"/>
                <a:gd name="T6" fmla="*/ 142 w 402"/>
                <a:gd name="T7" fmla="*/ 126 h 233"/>
                <a:gd name="T8" fmla="*/ 172 w 402"/>
                <a:gd name="T9" fmla="*/ 110 h 233"/>
                <a:gd name="T10" fmla="*/ 240 w 402"/>
                <a:gd name="T11" fmla="*/ 134 h 233"/>
                <a:gd name="T12" fmla="*/ 240 w 402"/>
                <a:gd name="T13" fmla="*/ 134 h 233"/>
                <a:gd name="T14" fmla="*/ 277 w 402"/>
                <a:gd name="T15" fmla="*/ 171 h 233"/>
                <a:gd name="T16" fmla="*/ 314 w 402"/>
                <a:gd name="T17" fmla="*/ 134 h 233"/>
                <a:gd name="T18" fmla="*/ 310 w 402"/>
                <a:gd name="T19" fmla="*/ 118 h 233"/>
                <a:gd name="T20" fmla="*/ 354 w 402"/>
                <a:gd name="T21" fmla="*/ 72 h 233"/>
                <a:gd name="T22" fmla="*/ 365 w 402"/>
                <a:gd name="T23" fmla="*/ 74 h 233"/>
                <a:gd name="T24" fmla="*/ 402 w 402"/>
                <a:gd name="T25" fmla="*/ 37 h 233"/>
                <a:gd name="T26" fmla="*/ 365 w 402"/>
                <a:gd name="T27" fmla="*/ 0 h 233"/>
                <a:gd name="T28" fmla="*/ 329 w 402"/>
                <a:gd name="T29" fmla="*/ 37 h 233"/>
                <a:gd name="T30" fmla="*/ 331 w 402"/>
                <a:gd name="T31" fmla="*/ 50 h 233"/>
                <a:gd name="T32" fmla="*/ 285 w 402"/>
                <a:gd name="T33" fmla="*/ 99 h 233"/>
                <a:gd name="T34" fmla="*/ 277 w 402"/>
                <a:gd name="T35" fmla="*/ 97 h 233"/>
                <a:gd name="T36" fmla="*/ 254 w 402"/>
                <a:gd name="T37" fmla="*/ 105 h 233"/>
                <a:gd name="T38" fmla="*/ 177 w 402"/>
                <a:gd name="T39" fmla="*/ 78 h 233"/>
                <a:gd name="T40" fmla="*/ 142 w 402"/>
                <a:gd name="T41" fmla="*/ 52 h 233"/>
                <a:gd name="T42" fmla="*/ 105 w 402"/>
                <a:gd name="T43" fmla="*/ 89 h 233"/>
                <a:gd name="T44" fmla="*/ 106 w 402"/>
                <a:gd name="T45" fmla="*/ 98 h 233"/>
                <a:gd name="T46" fmla="*/ 50 w 402"/>
                <a:gd name="T47" fmla="*/ 162 h 233"/>
                <a:gd name="T48" fmla="*/ 37 w 402"/>
                <a:gd name="T49" fmla="*/ 159 h 233"/>
                <a:gd name="T50" fmla="*/ 0 w 402"/>
                <a:gd name="T51" fmla="*/ 196 h 233"/>
                <a:gd name="T52" fmla="*/ 37 w 402"/>
                <a:gd name="T53" fmla="*/ 233 h 233"/>
                <a:gd name="T54" fmla="*/ 74 w 402"/>
                <a:gd name="T55" fmla="*/ 196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2" h="233">
                  <a:moveTo>
                    <a:pt x="74" y="196"/>
                  </a:moveTo>
                  <a:cubicBezTo>
                    <a:pt x="74" y="192"/>
                    <a:pt x="73" y="188"/>
                    <a:pt x="72" y="184"/>
                  </a:cubicBezTo>
                  <a:lnTo>
                    <a:pt x="127" y="122"/>
                  </a:lnTo>
                  <a:cubicBezTo>
                    <a:pt x="131" y="124"/>
                    <a:pt x="136" y="126"/>
                    <a:pt x="142" y="126"/>
                  </a:cubicBezTo>
                  <a:cubicBezTo>
                    <a:pt x="154" y="126"/>
                    <a:pt x="165" y="119"/>
                    <a:pt x="172" y="110"/>
                  </a:cubicBezTo>
                  <a:lnTo>
                    <a:pt x="240" y="134"/>
                  </a:lnTo>
                  <a:cubicBezTo>
                    <a:pt x="240" y="134"/>
                    <a:pt x="240" y="134"/>
                    <a:pt x="240" y="134"/>
                  </a:cubicBezTo>
                  <a:cubicBezTo>
                    <a:pt x="240" y="155"/>
                    <a:pt x="257" y="171"/>
                    <a:pt x="277" y="171"/>
                  </a:cubicBezTo>
                  <a:cubicBezTo>
                    <a:pt x="297" y="171"/>
                    <a:pt x="314" y="155"/>
                    <a:pt x="314" y="134"/>
                  </a:cubicBezTo>
                  <a:cubicBezTo>
                    <a:pt x="314" y="128"/>
                    <a:pt x="312" y="123"/>
                    <a:pt x="310" y="118"/>
                  </a:cubicBezTo>
                  <a:lnTo>
                    <a:pt x="354" y="72"/>
                  </a:lnTo>
                  <a:cubicBezTo>
                    <a:pt x="357" y="73"/>
                    <a:pt x="361" y="74"/>
                    <a:pt x="365" y="74"/>
                  </a:cubicBezTo>
                  <a:cubicBezTo>
                    <a:pt x="386" y="74"/>
                    <a:pt x="402" y="57"/>
                    <a:pt x="402" y="37"/>
                  </a:cubicBezTo>
                  <a:cubicBezTo>
                    <a:pt x="402" y="17"/>
                    <a:pt x="386" y="0"/>
                    <a:pt x="365" y="0"/>
                  </a:cubicBezTo>
                  <a:cubicBezTo>
                    <a:pt x="345" y="0"/>
                    <a:pt x="329" y="17"/>
                    <a:pt x="329" y="37"/>
                  </a:cubicBezTo>
                  <a:cubicBezTo>
                    <a:pt x="329" y="42"/>
                    <a:pt x="329" y="46"/>
                    <a:pt x="331" y="50"/>
                  </a:cubicBezTo>
                  <a:lnTo>
                    <a:pt x="285" y="99"/>
                  </a:lnTo>
                  <a:cubicBezTo>
                    <a:pt x="283" y="98"/>
                    <a:pt x="280" y="97"/>
                    <a:pt x="277" y="97"/>
                  </a:cubicBezTo>
                  <a:cubicBezTo>
                    <a:pt x="268" y="97"/>
                    <a:pt x="261" y="101"/>
                    <a:pt x="254" y="105"/>
                  </a:cubicBezTo>
                  <a:lnTo>
                    <a:pt x="177" y="78"/>
                  </a:lnTo>
                  <a:cubicBezTo>
                    <a:pt x="172" y="63"/>
                    <a:pt x="158" y="52"/>
                    <a:pt x="142" y="52"/>
                  </a:cubicBezTo>
                  <a:cubicBezTo>
                    <a:pt x="121" y="52"/>
                    <a:pt x="105" y="68"/>
                    <a:pt x="105" y="89"/>
                  </a:cubicBezTo>
                  <a:cubicBezTo>
                    <a:pt x="105" y="92"/>
                    <a:pt x="106" y="95"/>
                    <a:pt x="106" y="98"/>
                  </a:cubicBezTo>
                  <a:lnTo>
                    <a:pt x="50" y="162"/>
                  </a:lnTo>
                  <a:cubicBezTo>
                    <a:pt x="46" y="160"/>
                    <a:pt x="42" y="159"/>
                    <a:pt x="37" y="159"/>
                  </a:cubicBezTo>
                  <a:cubicBezTo>
                    <a:pt x="17" y="159"/>
                    <a:pt x="0" y="175"/>
                    <a:pt x="0" y="196"/>
                  </a:cubicBezTo>
                  <a:cubicBezTo>
                    <a:pt x="0" y="216"/>
                    <a:pt x="17" y="233"/>
                    <a:pt x="37" y="233"/>
                  </a:cubicBezTo>
                  <a:cubicBezTo>
                    <a:pt x="57" y="233"/>
                    <a:pt x="74" y="216"/>
                    <a:pt x="74" y="1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128">
              <a:extLst>
                <a:ext uri="{FF2B5EF4-FFF2-40B4-BE49-F238E27FC236}">
                  <a16:creationId xmlns:a16="http://schemas.microsoft.com/office/drawing/2014/main" id="{9EDCA2DD-AC3F-46F9-ACD6-E86AD563C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1662112"/>
              <a:ext cx="46038" cy="1270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129">
              <a:extLst>
                <a:ext uri="{FF2B5EF4-FFF2-40B4-BE49-F238E27FC236}">
                  <a16:creationId xmlns:a16="http://schemas.microsoft.com/office/drawing/2014/main" id="{01EA4E1B-39B5-46D1-974B-625BA994A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201" y="1630362"/>
              <a:ext cx="47625" cy="1587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130">
              <a:extLst>
                <a:ext uri="{FF2B5EF4-FFF2-40B4-BE49-F238E27FC236}">
                  <a16:creationId xmlns:a16="http://schemas.microsoft.com/office/drawing/2014/main" id="{F3093814-BA31-477A-A79A-7F7DDF753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238" y="1574800"/>
              <a:ext cx="46038" cy="21431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1">
              <a:extLst>
                <a:ext uri="{FF2B5EF4-FFF2-40B4-BE49-F238E27FC236}">
                  <a16:creationId xmlns:a16="http://schemas.microsoft.com/office/drawing/2014/main" id="{A0D8057F-BA57-4478-9A66-F89E9BED9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888" y="1701800"/>
              <a:ext cx="130175" cy="222250"/>
            </a:xfrm>
            <a:custGeom>
              <a:avLst/>
              <a:gdLst>
                <a:gd name="T0" fmla="*/ 57 w 170"/>
                <a:gd name="T1" fmla="*/ 61 h 292"/>
                <a:gd name="T2" fmla="*/ 64 w 170"/>
                <a:gd name="T3" fmla="*/ 292 h 292"/>
                <a:gd name="T4" fmla="*/ 170 w 170"/>
                <a:gd name="T5" fmla="*/ 165 h 292"/>
                <a:gd name="T6" fmla="*/ 170 w 170"/>
                <a:gd name="T7" fmla="*/ 0 h 292"/>
                <a:gd name="T8" fmla="*/ 57 w 170"/>
                <a:gd name="T9" fmla="*/ 61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292">
                  <a:moveTo>
                    <a:pt x="57" y="61"/>
                  </a:moveTo>
                  <a:cubicBezTo>
                    <a:pt x="0" y="129"/>
                    <a:pt x="4" y="229"/>
                    <a:pt x="64" y="292"/>
                  </a:cubicBezTo>
                  <a:lnTo>
                    <a:pt x="170" y="165"/>
                  </a:lnTo>
                  <a:lnTo>
                    <a:pt x="170" y="0"/>
                  </a:lnTo>
                  <a:cubicBezTo>
                    <a:pt x="125" y="5"/>
                    <a:pt x="87" y="25"/>
                    <a:pt x="57" y="6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32">
              <a:extLst>
                <a:ext uri="{FF2B5EF4-FFF2-40B4-BE49-F238E27FC236}">
                  <a16:creationId xmlns:a16="http://schemas.microsoft.com/office/drawing/2014/main" id="{1D8EC90A-07E4-40E7-88F5-28388D0D0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913" y="1851025"/>
              <a:ext cx="200025" cy="115888"/>
            </a:xfrm>
            <a:custGeom>
              <a:avLst/>
              <a:gdLst>
                <a:gd name="T0" fmla="*/ 103 w 261"/>
                <a:gd name="T1" fmla="*/ 0 h 151"/>
                <a:gd name="T2" fmla="*/ 0 w 261"/>
                <a:gd name="T3" fmla="*/ 123 h 151"/>
                <a:gd name="T4" fmla="*/ 64 w 261"/>
                <a:gd name="T5" fmla="*/ 148 h 151"/>
                <a:gd name="T6" fmla="*/ 95 w 261"/>
                <a:gd name="T7" fmla="*/ 151 h 151"/>
                <a:gd name="T8" fmla="*/ 261 w 261"/>
                <a:gd name="T9" fmla="*/ 27 h 151"/>
                <a:gd name="T10" fmla="*/ 103 w 261"/>
                <a:gd name="T1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1" h="151">
                  <a:moveTo>
                    <a:pt x="103" y="0"/>
                  </a:moveTo>
                  <a:lnTo>
                    <a:pt x="0" y="123"/>
                  </a:lnTo>
                  <a:cubicBezTo>
                    <a:pt x="19" y="136"/>
                    <a:pt x="40" y="144"/>
                    <a:pt x="64" y="148"/>
                  </a:cubicBezTo>
                  <a:cubicBezTo>
                    <a:pt x="75" y="150"/>
                    <a:pt x="85" y="151"/>
                    <a:pt x="95" y="151"/>
                  </a:cubicBezTo>
                  <a:cubicBezTo>
                    <a:pt x="172" y="151"/>
                    <a:pt x="239" y="100"/>
                    <a:pt x="261" y="27"/>
                  </a:cubicBezTo>
                  <a:lnTo>
                    <a:pt x="103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133">
              <a:extLst>
                <a:ext uri="{FF2B5EF4-FFF2-40B4-BE49-F238E27FC236}">
                  <a16:creationId xmlns:a16="http://schemas.microsoft.com/office/drawing/2014/main" id="{69059F85-4898-4F65-AAD6-5E44BB31D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813" y="1701800"/>
              <a:ext cx="115888" cy="138113"/>
            </a:xfrm>
            <a:custGeom>
              <a:avLst/>
              <a:gdLst>
                <a:gd name="T0" fmla="*/ 0 w 153"/>
                <a:gd name="T1" fmla="*/ 0 h 182"/>
                <a:gd name="T2" fmla="*/ 0 w 153"/>
                <a:gd name="T3" fmla="*/ 155 h 182"/>
                <a:gd name="T4" fmla="*/ 152 w 153"/>
                <a:gd name="T5" fmla="*/ 182 h 182"/>
                <a:gd name="T6" fmla="*/ 153 w 153"/>
                <a:gd name="T7" fmla="*/ 173 h 182"/>
                <a:gd name="T8" fmla="*/ 0 w 153"/>
                <a:gd name="T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182">
                  <a:moveTo>
                    <a:pt x="0" y="0"/>
                  </a:moveTo>
                  <a:lnTo>
                    <a:pt x="0" y="155"/>
                  </a:lnTo>
                  <a:lnTo>
                    <a:pt x="152" y="182"/>
                  </a:lnTo>
                  <a:cubicBezTo>
                    <a:pt x="153" y="179"/>
                    <a:pt x="153" y="176"/>
                    <a:pt x="153" y="173"/>
                  </a:cubicBezTo>
                  <a:cubicBezTo>
                    <a:pt x="153" y="84"/>
                    <a:pt x="86" y="11"/>
                    <a:pt x="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134">
              <a:extLst>
                <a:ext uri="{FF2B5EF4-FFF2-40B4-BE49-F238E27FC236}">
                  <a16:creationId xmlns:a16="http://schemas.microsoft.com/office/drawing/2014/main" id="{3CFB9978-C6A6-46D9-B81F-AD9CE6074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1" y="1604962"/>
              <a:ext cx="296863" cy="2968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135">
              <a:extLst>
                <a:ext uri="{FF2B5EF4-FFF2-40B4-BE49-F238E27FC236}">
                  <a16:creationId xmlns:a16="http://schemas.microsoft.com/office/drawing/2014/main" id="{48EC7A6D-7DEA-419A-870D-40E4CAA884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0063" y="1925637"/>
              <a:ext cx="668338" cy="442913"/>
            </a:xfrm>
            <a:custGeom>
              <a:avLst/>
              <a:gdLst>
                <a:gd name="T0" fmla="*/ 697 w 879"/>
                <a:gd name="T1" fmla="*/ 542 h 580"/>
                <a:gd name="T2" fmla="*/ 181 w 879"/>
                <a:gd name="T3" fmla="*/ 542 h 580"/>
                <a:gd name="T4" fmla="*/ 181 w 879"/>
                <a:gd name="T5" fmla="*/ 223 h 580"/>
                <a:gd name="T6" fmla="*/ 201 w 879"/>
                <a:gd name="T7" fmla="*/ 203 h 580"/>
                <a:gd name="T8" fmla="*/ 677 w 879"/>
                <a:gd name="T9" fmla="*/ 203 h 580"/>
                <a:gd name="T10" fmla="*/ 697 w 879"/>
                <a:gd name="T11" fmla="*/ 223 h 580"/>
                <a:gd name="T12" fmla="*/ 697 w 879"/>
                <a:gd name="T13" fmla="*/ 542 h 580"/>
                <a:gd name="T14" fmla="*/ 562 w 879"/>
                <a:gd name="T15" fmla="*/ 4 h 580"/>
                <a:gd name="T16" fmla="*/ 439 w 879"/>
                <a:gd name="T17" fmla="*/ 101 h 580"/>
                <a:gd name="T18" fmla="*/ 312 w 879"/>
                <a:gd name="T19" fmla="*/ 0 h 580"/>
                <a:gd name="T20" fmla="*/ 96 w 879"/>
                <a:gd name="T21" fmla="*/ 241 h 580"/>
                <a:gd name="T22" fmla="*/ 96 w 879"/>
                <a:gd name="T23" fmla="*/ 322 h 580"/>
                <a:gd name="T24" fmla="*/ 0 w 879"/>
                <a:gd name="T25" fmla="*/ 322 h 580"/>
                <a:gd name="T26" fmla="*/ 0 w 879"/>
                <a:gd name="T27" fmla="*/ 371 h 580"/>
                <a:gd name="T28" fmla="*/ 144 w 879"/>
                <a:gd name="T29" fmla="*/ 371 h 580"/>
                <a:gd name="T30" fmla="*/ 144 w 879"/>
                <a:gd name="T31" fmla="*/ 431 h 580"/>
                <a:gd name="T32" fmla="*/ 120 w 879"/>
                <a:gd name="T33" fmla="*/ 431 h 580"/>
                <a:gd name="T34" fmla="*/ 100 w 879"/>
                <a:gd name="T35" fmla="*/ 442 h 580"/>
                <a:gd name="T36" fmla="*/ 97 w 879"/>
                <a:gd name="T37" fmla="*/ 464 h 580"/>
                <a:gd name="T38" fmla="*/ 133 w 879"/>
                <a:gd name="T39" fmla="*/ 563 h 580"/>
                <a:gd name="T40" fmla="*/ 156 w 879"/>
                <a:gd name="T41" fmla="*/ 580 h 580"/>
                <a:gd name="T42" fmla="*/ 722 w 879"/>
                <a:gd name="T43" fmla="*/ 580 h 580"/>
                <a:gd name="T44" fmla="*/ 745 w 879"/>
                <a:gd name="T45" fmla="*/ 563 h 580"/>
                <a:gd name="T46" fmla="*/ 781 w 879"/>
                <a:gd name="T47" fmla="*/ 464 h 580"/>
                <a:gd name="T48" fmla="*/ 779 w 879"/>
                <a:gd name="T49" fmla="*/ 442 h 580"/>
                <a:gd name="T50" fmla="*/ 758 w 879"/>
                <a:gd name="T51" fmla="*/ 431 h 580"/>
                <a:gd name="T52" fmla="*/ 734 w 879"/>
                <a:gd name="T53" fmla="*/ 431 h 580"/>
                <a:gd name="T54" fmla="*/ 734 w 879"/>
                <a:gd name="T55" fmla="*/ 371 h 580"/>
                <a:gd name="T56" fmla="*/ 879 w 879"/>
                <a:gd name="T57" fmla="*/ 371 h 580"/>
                <a:gd name="T58" fmla="*/ 879 w 879"/>
                <a:gd name="T59" fmla="*/ 322 h 580"/>
                <a:gd name="T60" fmla="*/ 782 w 879"/>
                <a:gd name="T61" fmla="*/ 322 h 580"/>
                <a:gd name="T62" fmla="*/ 782 w 879"/>
                <a:gd name="T63" fmla="*/ 241 h 580"/>
                <a:gd name="T64" fmla="*/ 562 w 879"/>
                <a:gd name="T65" fmla="*/ 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79" h="580">
                  <a:moveTo>
                    <a:pt x="697" y="542"/>
                  </a:moveTo>
                  <a:lnTo>
                    <a:pt x="181" y="542"/>
                  </a:lnTo>
                  <a:lnTo>
                    <a:pt x="181" y="223"/>
                  </a:lnTo>
                  <a:cubicBezTo>
                    <a:pt x="181" y="212"/>
                    <a:pt x="190" y="203"/>
                    <a:pt x="201" y="203"/>
                  </a:cubicBezTo>
                  <a:lnTo>
                    <a:pt x="677" y="203"/>
                  </a:lnTo>
                  <a:cubicBezTo>
                    <a:pt x="688" y="203"/>
                    <a:pt x="697" y="212"/>
                    <a:pt x="697" y="223"/>
                  </a:cubicBezTo>
                  <a:lnTo>
                    <a:pt x="697" y="542"/>
                  </a:lnTo>
                  <a:close/>
                  <a:moveTo>
                    <a:pt x="562" y="4"/>
                  </a:moveTo>
                  <a:lnTo>
                    <a:pt x="439" y="101"/>
                  </a:lnTo>
                  <a:lnTo>
                    <a:pt x="312" y="0"/>
                  </a:lnTo>
                  <a:cubicBezTo>
                    <a:pt x="185" y="25"/>
                    <a:pt x="96" y="95"/>
                    <a:pt x="96" y="241"/>
                  </a:cubicBezTo>
                  <a:lnTo>
                    <a:pt x="96" y="322"/>
                  </a:lnTo>
                  <a:lnTo>
                    <a:pt x="0" y="322"/>
                  </a:lnTo>
                  <a:lnTo>
                    <a:pt x="0" y="371"/>
                  </a:lnTo>
                  <a:lnTo>
                    <a:pt x="144" y="371"/>
                  </a:lnTo>
                  <a:lnTo>
                    <a:pt x="144" y="431"/>
                  </a:lnTo>
                  <a:lnTo>
                    <a:pt x="120" y="431"/>
                  </a:lnTo>
                  <a:cubicBezTo>
                    <a:pt x="112" y="431"/>
                    <a:pt x="104" y="435"/>
                    <a:pt x="100" y="442"/>
                  </a:cubicBezTo>
                  <a:cubicBezTo>
                    <a:pt x="95" y="448"/>
                    <a:pt x="94" y="457"/>
                    <a:pt x="97" y="464"/>
                  </a:cubicBezTo>
                  <a:lnTo>
                    <a:pt x="133" y="563"/>
                  </a:lnTo>
                  <a:cubicBezTo>
                    <a:pt x="136" y="573"/>
                    <a:pt x="146" y="580"/>
                    <a:pt x="156" y="580"/>
                  </a:cubicBezTo>
                  <a:lnTo>
                    <a:pt x="722" y="580"/>
                  </a:lnTo>
                  <a:cubicBezTo>
                    <a:pt x="733" y="580"/>
                    <a:pt x="742" y="573"/>
                    <a:pt x="745" y="563"/>
                  </a:cubicBezTo>
                  <a:lnTo>
                    <a:pt x="781" y="464"/>
                  </a:lnTo>
                  <a:cubicBezTo>
                    <a:pt x="784" y="456"/>
                    <a:pt x="783" y="448"/>
                    <a:pt x="779" y="442"/>
                  </a:cubicBezTo>
                  <a:cubicBezTo>
                    <a:pt x="774" y="435"/>
                    <a:pt x="766" y="431"/>
                    <a:pt x="758" y="431"/>
                  </a:cubicBezTo>
                  <a:lnTo>
                    <a:pt x="734" y="431"/>
                  </a:lnTo>
                  <a:lnTo>
                    <a:pt x="734" y="371"/>
                  </a:lnTo>
                  <a:lnTo>
                    <a:pt x="879" y="371"/>
                  </a:lnTo>
                  <a:lnTo>
                    <a:pt x="879" y="322"/>
                  </a:lnTo>
                  <a:lnTo>
                    <a:pt x="782" y="322"/>
                  </a:lnTo>
                  <a:lnTo>
                    <a:pt x="782" y="241"/>
                  </a:lnTo>
                  <a:cubicBezTo>
                    <a:pt x="782" y="118"/>
                    <a:pt x="691" y="35"/>
                    <a:pt x="562" y="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136">
              <a:extLst>
                <a:ext uri="{FF2B5EF4-FFF2-40B4-BE49-F238E27FC236}">
                  <a16:creationId xmlns:a16="http://schemas.microsoft.com/office/drawing/2014/main" id="{4ADDEBB6-2CED-4DA3-AE3E-B66F16382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101" y="2179637"/>
              <a:ext cx="68263" cy="698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3794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78">
            <a:extLst>
              <a:ext uri="{FF2B5EF4-FFF2-40B4-BE49-F238E27FC236}">
                <a16:creationId xmlns:a16="http://schemas.microsoft.com/office/drawing/2014/main" id="{A27F90C0-6841-4262-975F-D9C3AB50C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22AE7EF9-769D-42F9-9430-F2DF739C9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PoljeZBesedilom 73">
            <a:extLst>
              <a:ext uri="{FF2B5EF4-FFF2-40B4-BE49-F238E27FC236}">
                <a16:creationId xmlns:a16="http://schemas.microsoft.com/office/drawing/2014/main" id="{82C6CFEC-AE91-4730-9DD2-6D72D9CC2C3B}"/>
              </a:ext>
            </a:extLst>
          </p:cNvPr>
          <p:cNvSpPr txBox="1"/>
          <p:nvPr/>
        </p:nvSpPr>
        <p:spPr>
          <a:xfrm>
            <a:off x="0" y="0"/>
            <a:ext cx="12192000" cy="64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 err="1">
                <a:latin typeface="+mj-lt"/>
                <a:ea typeface="+mj-ea"/>
                <a:cs typeface="+mj-cs"/>
              </a:rPr>
              <a:t>Opis</a:t>
            </a:r>
            <a:r>
              <a:rPr lang="en-US" sz="3200" cap="all" dirty="0">
                <a:latin typeface="+mj-lt"/>
                <a:ea typeface="+mj-ea"/>
                <a:cs typeface="+mj-cs"/>
              </a:rPr>
              <a:t> </a:t>
            </a:r>
            <a:r>
              <a:rPr lang="en-US" sz="3200" cap="all" dirty="0" err="1">
                <a:latin typeface="+mj-lt"/>
                <a:ea typeface="+mj-ea"/>
                <a:cs typeface="+mj-cs"/>
              </a:rPr>
              <a:t>modela</a:t>
            </a:r>
            <a:endParaRPr lang="en-US" sz="3200" cap="all" dirty="0">
              <a:latin typeface="+mj-lt"/>
              <a:ea typeface="+mj-ea"/>
              <a:cs typeface="+mj-cs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511E2EF0-3BCB-402C-B2C1-C6FC2BA74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9" name="Straight Connector 84">
            <a:extLst>
              <a:ext uri="{FF2B5EF4-FFF2-40B4-BE49-F238E27FC236}">
                <a16:creationId xmlns:a16="http://schemas.microsoft.com/office/drawing/2014/main" id="{BF68608F-34C2-43D6-84DB-5A870495E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Grafika 89">
            <a:extLst>
              <a:ext uri="{FF2B5EF4-FFF2-40B4-BE49-F238E27FC236}">
                <a16:creationId xmlns:a16="http://schemas.microsoft.com/office/drawing/2014/main" id="{AD786575-63E1-4E0D-896A-0A535A2EB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2735" y="744590"/>
            <a:ext cx="4104544" cy="4895850"/>
          </a:xfrm>
          <a:prstGeom prst="rect">
            <a:avLst/>
          </a:prstGeom>
        </p:spPr>
      </p:pic>
      <p:sp>
        <p:nvSpPr>
          <p:cNvPr id="100" name="PoljeZBesedilom 99">
            <a:extLst>
              <a:ext uri="{FF2B5EF4-FFF2-40B4-BE49-F238E27FC236}">
                <a16:creationId xmlns:a16="http://schemas.microsoft.com/office/drawing/2014/main" id="{9F4273FC-5E16-463F-8245-F41A588FED0F}"/>
              </a:ext>
            </a:extLst>
          </p:cNvPr>
          <p:cNvSpPr txBox="1"/>
          <p:nvPr/>
        </p:nvSpPr>
        <p:spPr>
          <a:xfrm>
            <a:off x="213888" y="1529071"/>
            <a:ext cx="3916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Iz posode enakomerno pada pesek</a:t>
            </a:r>
          </a:p>
          <a:p>
            <a:r>
              <a:rPr lang="sl-SI" dirty="0"/>
              <a:t>na ravno podlago.</a:t>
            </a:r>
          </a:p>
        </p:txBody>
      </p:sp>
      <p:sp>
        <p:nvSpPr>
          <p:cNvPr id="101" name="PoljeZBesedilom 100">
            <a:extLst>
              <a:ext uri="{FF2B5EF4-FFF2-40B4-BE49-F238E27FC236}">
                <a16:creationId xmlns:a16="http://schemas.microsoft.com/office/drawing/2014/main" id="{17C2B4EA-61DC-46AF-9245-1F5A57E9351B}"/>
              </a:ext>
            </a:extLst>
          </p:cNvPr>
          <p:cNvSpPr txBox="1"/>
          <p:nvPr/>
        </p:nvSpPr>
        <p:spPr>
          <a:xfrm>
            <a:off x="245505" y="2652215"/>
            <a:ext cx="3369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Na podlagi se pesek kopiči in </a:t>
            </a:r>
          </a:p>
          <a:p>
            <a:r>
              <a:rPr lang="sl-SI" dirty="0"/>
              <a:t>Prerazporeja.</a:t>
            </a:r>
          </a:p>
        </p:txBody>
      </p:sp>
      <p:sp>
        <p:nvSpPr>
          <p:cNvPr id="102" name="PoljeZBesedilom 101">
            <a:extLst>
              <a:ext uri="{FF2B5EF4-FFF2-40B4-BE49-F238E27FC236}">
                <a16:creationId xmlns:a16="http://schemas.microsoft.com/office/drawing/2014/main" id="{96D65A34-5F66-45C4-97C8-AF828BCEECEB}"/>
              </a:ext>
            </a:extLst>
          </p:cNvPr>
          <p:cNvSpPr txBox="1"/>
          <p:nvPr/>
        </p:nvSpPr>
        <p:spPr>
          <a:xfrm>
            <a:off x="286560" y="3948568"/>
            <a:ext cx="3864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Pesek, ki prečka rob zapusti sistem.</a:t>
            </a:r>
          </a:p>
        </p:txBody>
      </p:sp>
      <p:sp>
        <p:nvSpPr>
          <p:cNvPr id="103" name="PoljeZBesedilom 102">
            <a:extLst>
              <a:ext uri="{FF2B5EF4-FFF2-40B4-BE49-F238E27FC236}">
                <a16:creationId xmlns:a16="http://schemas.microsoft.com/office/drawing/2014/main" id="{DDC5A18F-782D-4764-922D-35D056AA36EB}"/>
              </a:ext>
            </a:extLst>
          </p:cNvPr>
          <p:cNvSpPr txBox="1"/>
          <p:nvPr/>
        </p:nvSpPr>
        <p:spPr>
          <a:xfrm>
            <a:off x="7620812" y="1478851"/>
            <a:ext cx="4300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b="1" dirty="0"/>
              <a:t>Zanima nas dinamika sipine, ki nastaja.</a:t>
            </a:r>
          </a:p>
        </p:txBody>
      </p:sp>
      <p:sp>
        <p:nvSpPr>
          <p:cNvPr id="104" name="PoljeZBesedilom 103">
            <a:extLst>
              <a:ext uri="{FF2B5EF4-FFF2-40B4-BE49-F238E27FC236}">
                <a16:creationId xmlns:a16="http://schemas.microsoft.com/office/drawing/2014/main" id="{9394853F-999C-46B2-8B3D-B6364C41D908}"/>
              </a:ext>
            </a:extLst>
          </p:cNvPr>
          <p:cNvSpPr txBox="1"/>
          <p:nvPr/>
        </p:nvSpPr>
        <p:spPr>
          <a:xfrm>
            <a:off x="7640240" y="1901063"/>
            <a:ext cx="391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      -&gt; Kakšne lastnosti imajo plazovi</a:t>
            </a:r>
          </a:p>
        </p:txBody>
      </p:sp>
      <p:sp>
        <p:nvSpPr>
          <p:cNvPr id="105" name="PoljeZBesedilom 104">
            <a:extLst>
              <a:ext uri="{FF2B5EF4-FFF2-40B4-BE49-F238E27FC236}">
                <a16:creationId xmlns:a16="http://schemas.microsoft.com/office/drawing/2014/main" id="{9B8D05BE-A0DA-46DA-9A46-9283CEBF507B}"/>
              </a:ext>
            </a:extLst>
          </p:cNvPr>
          <p:cNvSpPr txBox="1"/>
          <p:nvPr/>
        </p:nvSpPr>
        <p:spPr>
          <a:xfrm>
            <a:off x="7649402" y="2244802"/>
            <a:ext cx="3931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      -&gt; Ali so vsi plazovi enako veliki</a:t>
            </a:r>
          </a:p>
        </p:txBody>
      </p:sp>
      <p:sp>
        <p:nvSpPr>
          <p:cNvPr id="106" name="PoljeZBesedilom 105">
            <a:extLst>
              <a:ext uri="{FF2B5EF4-FFF2-40B4-BE49-F238E27FC236}">
                <a16:creationId xmlns:a16="http://schemas.microsoft.com/office/drawing/2014/main" id="{1F60ADF7-2A63-4CCE-8B99-AEBFCE5D1A3E}"/>
              </a:ext>
            </a:extLst>
          </p:cNvPr>
          <p:cNvSpPr txBox="1"/>
          <p:nvPr/>
        </p:nvSpPr>
        <p:spPr>
          <a:xfrm>
            <a:off x="7649402" y="2607207"/>
            <a:ext cx="4209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      -&gt; V kakšnem časovnem zaporedju</a:t>
            </a:r>
          </a:p>
          <a:p>
            <a:r>
              <a:rPr lang="sl-SI" dirty="0"/>
              <a:t>            se pojavljajo plazovi</a:t>
            </a:r>
          </a:p>
        </p:txBody>
      </p:sp>
    </p:spTree>
    <p:extLst>
      <p:ext uri="{BB962C8B-B14F-4D97-AF65-F5344CB8AC3E}">
        <p14:creationId xmlns:p14="http://schemas.microsoft.com/office/powerpoint/2010/main" val="328995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78">
            <a:extLst>
              <a:ext uri="{FF2B5EF4-FFF2-40B4-BE49-F238E27FC236}">
                <a16:creationId xmlns:a16="http://schemas.microsoft.com/office/drawing/2014/main" id="{A27F90C0-6841-4262-975F-D9C3AB50C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22AE7EF9-769D-42F9-9430-F2DF739C9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PoljeZBesedilom 73">
            <a:extLst>
              <a:ext uri="{FF2B5EF4-FFF2-40B4-BE49-F238E27FC236}">
                <a16:creationId xmlns:a16="http://schemas.microsoft.com/office/drawing/2014/main" id="{82C6CFEC-AE91-4730-9DD2-6D72D9CC2C3B}"/>
              </a:ext>
            </a:extLst>
          </p:cNvPr>
          <p:cNvSpPr txBox="1"/>
          <p:nvPr/>
        </p:nvSpPr>
        <p:spPr>
          <a:xfrm>
            <a:off x="70454" y="-69743"/>
            <a:ext cx="5492146" cy="64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>
                <a:latin typeface="+mj-lt"/>
                <a:ea typeface="+mj-ea"/>
                <a:cs typeface="+mj-cs"/>
              </a:rPr>
              <a:t>Opis modela</a:t>
            </a:r>
          </a:p>
        </p:txBody>
      </p:sp>
      <p:pic>
        <p:nvPicPr>
          <p:cNvPr id="18" name="Grafika 17">
            <a:extLst>
              <a:ext uri="{FF2B5EF4-FFF2-40B4-BE49-F238E27FC236}">
                <a16:creationId xmlns:a16="http://schemas.microsoft.com/office/drawing/2014/main" id="{ED364149-FD14-44AA-8497-A27EEA0DA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29" y="1418994"/>
            <a:ext cx="9702196" cy="39779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11E2EF0-3BCB-402C-B2C1-C6FC2BA74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9" name="Straight Connector 84">
            <a:extLst>
              <a:ext uri="{FF2B5EF4-FFF2-40B4-BE49-F238E27FC236}">
                <a16:creationId xmlns:a16="http://schemas.microsoft.com/office/drawing/2014/main" id="{BF68608F-34C2-43D6-84DB-5A870495E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9A93CE5B-2150-4A54-8243-D854DD9ACD17}"/>
              </a:ext>
            </a:extLst>
          </p:cNvPr>
          <p:cNvSpPr txBox="1"/>
          <p:nvPr/>
        </p:nvSpPr>
        <p:spPr>
          <a:xfrm>
            <a:off x="70454" y="5439006"/>
            <a:ext cx="9432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Matrika </a:t>
            </a:r>
            <a:r>
              <a:rPr lang="sl-SI" b="1" i="1" dirty="0"/>
              <a:t>S</a:t>
            </a:r>
            <a:r>
              <a:rPr lang="sl-SI" dirty="0"/>
              <a:t> beleži </a:t>
            </a:r>
            <a:r>
              <a:rPr lang="sl-SI" dirty="0">
                <a:solidFill>
                  <a:srgbClr val="FF0000"/>
                </a:solidFill>
              </a:rPr>
              <a:t>strmino</a:t>
            </a:r>
            <a:r>
              <a:rPr lang="sl-SI" dirty="0"/>
              <a:t> sipine v danem polju. </a:t>
            </a:r>
          </a:p>
        </p:txBody>
      </p:sp>
    </p:spTree>
    <p:extLst>
      <p:ext uri="{BB962C8B-B14F-4D97-AF65-F5344CB8AC3E}">
        <p14:creationId xmlns:p14="http://schemas.microsoft.com/office/powerpoint/2010/main" val="186023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78">
            <a:extLst>
              <a:ext uri="{FF2B5EF4-FFF2-40B4-BE49-F238E27FC236}">
                <a16:creationId xmlns:a16="http://schemas.microsoft.com/office/drawing/2014/main" id="{A27F90C0-6841-4262-975F-D9C3AB50C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22AE7EF9-769D-42F9-9430-F2DF739C9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PoljeZBesedilom 73">
            <a:extLst>
              <a:ext uri="{FF2B5EF4-FFF2-40B4-BE49-F238E27FC236}">
                <a16:creationId xmlns:a16="http://schemas.microsoft.com/office/drawing/2014/main" id="{82C6CFEC-AE91-4730-9DD2-6D72D9CC2C3B}"/>
              </a:ext>
            </a:extLst>
          </p:cNvPr>
          <p:cNvSpPr txBox="1"/>
          <p:nvPr/>
        </p:nvSpPr>
        <p:spPr>
          <a:xfrm>
            <a:off x="70454" y="-69743"/>
            <a:ext cx="8235346" cy="64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sl-SI" sz="3200" cap="all" dirty="0">
                <a:latin typeface="+mj-lt"/>
                <a:ea typeface="+mj-ea"/>
                <a:cs typeface="+mj-cs"/>
              </a:rPr>
              <a:t>Iterativno modeliranje evolucije sistema</a:t>
            </a:r>
            <a:endParaRPr lang="en-US" sz="3200" cap="all" dirty="0">
              <a:latin typeface="+mj-lt"/>
              <a:ea typeface="+mj-ea"/>
              <a:cs typeface="+mj-cs"/>
            </a:endParaRPr>
          </a:p>
        </p:txBody>
      </p:sp>
      <p:pic>
        <p:nvPicPr>
          <p:cNvPr id="18" name="Grafika 17">
            <a:extLst>
              <a:ext uri="{FF2B5EF4-FFF2-40B4-BE49-F238E27FC236}">
                <a16:creationId xmlns:a16="http://schemas.microsoft.com/office/drawing/2014/main" id="{ED364149-FD14-44AA-8497-A27EEA0DA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5083" y="10559"/>
            <a:ext cx="4336463" cy="177795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11E2EF0-3BCB-402C-B2C1-C6FC2BA74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9" name="Straight Connector 84">
            <a:extLst>
              <a:ext uri="{FF2B5EF4-FFF2-40B4-BE49-F238E27FC236}">
                <a16:creationId xmlns:a16="http://schemas.microsoft.com/office/drawing/2014/main" id="{BF68608F-34C2-43D6-84DB-5A870495E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60AF31F3-5A6C-4066-9A92-8FCACE32870A}"/>
              </a:ext>
            </a:extLst>
          </p:cNvPr>
          <p:cNvSpPr txBox="1"/>
          <p:nvPr/>
        </p:nvSpPr>
        <p:spPr>
          <a:xfrm>
            <a:off x="203803" y="2474402"/>
            <a:ext cx="970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Stanje sistema (podlage) v naslednjem trenutku (t+1) je odvisno od trenutnega stanja sistema (t) kot: </a:t>
            </a:r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1B72F1E2-256C-4FBE-91A3-243C5B8D0356}"/>
              </a:ext>
            </a:extLst>
          </p:cNvPr>
          <p:cNvSpPr txBox="1"/>
          <p:nvPr/>
        </p:nvSpPr>
        <p:spPr>
          <a:xfrm>
            <a:off x="203804" y="1907983"/>
            <a:ext cx="9432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 vsaki iteraciji pustimo, da </a:t>
            </a:r>
            <a:r>
              <a:rPr lang="sl-SI" b="1" dirty="0"/>
              <a:t>štiri zrna peska </a:t>
            </a:r>
            <a:r>
              <a:rPr lang="sl-SI" dirty="0"/>
              <a:t>padejo na središčno polje podlage.</a:t>
            </a:r>
          </a:p>
        </p:txBody>
      </p:sp>
      <p:sp>
        <p:nvSpPr>
          <p:cNvPr id="10" name="PoljeZBesedilom 9">
            <a:extLst>
              <a:ext uri="{FF2B5EF4-FFF2-40B4-BE49-F238E27FC236}">
                <a16:creationId xmlns:a16="http://schemas.microsoft.com/office/drawing/2014/main" id="{0F64B8DF-354E-4A9B-A114-14B9294151B9}"/>
              </a:ext>
            </a:extLst>
          </p:cNvPr>
          <p:cNvSpPr txBox="1"/>
          <p:nvPr/>
        </p:nvSpPr>
        <p:spPr>
          <a:xfrm>
            <a:off x="203804" y="1341565"/>
            <a:ext cx="9432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Pričnemo s podlago je prazna.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jeZBesedilom 1">
                <a:extLst>
                  <a:ext uri="{FF2B5EF4-FFF2-40B4-BE49-F238E27FC236}">
                    <a16:creationId xmlns:a16="http://schemas.microsoft.com/office/drawing/2014/main" id="{5318A40B-A6B3-4095-8038-35FB680ABECA}"/>
                  </a:ext>
                </a:extLst>
              </p:cNvPr>
              <p:cNvSpPr txBox="1"/>
              <p:nvPr/>
            </p:nvSpPr>
            <p:spPr>
              <a:xfrm>
                <a:off x="4919814" y="3152001"/>
                <a:ext cx="19044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sl-SI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sl-SI" b="1" dirty="0"/>
              </a:p>
            </p:txBody>
          </p:sp>
        </mc:Choice>
        <mc:Fallback xmlns="">
          <p:sp>
            <p:nvSpPr>
              <p:cNvPr id="2" name="PoljeZBesedilom 1">
                <a:extLst>
                  <a:ext uri="{FF2B5EF4-FFF2-40B4-BE49-F238E27FC236}">
                    <a16:creationId xmlns:a16="http://schemas.microsoft.com/office/drawing/2014/main" id="{5318A40B-A6B3-4095-8038-35FB680AB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814" y="3152001"/>
                <a:ext cx="1904432" cy="276999"/>
              </a:xfrm>
              <a:prstGeom prst="rect">
                <a:avLst/>
              </a:prstGeom>
              <a:blipFill>
                <a:blip r:embed="rId5"/>
                <a:stretch>
                  <a:fillRect l="-1923" r="-2564" b="-8696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B21F9D24-DBE0-4FBB-B9D1-94CAA3F8BF2F}"/>
              </a:ext>
            </a:extLst>
          </p:cNvPr>
          <p:cNvSpPr txBox="1"/>
          <p:nvPr/>
        </p:nvSpPr>
        <p:spPr>
          <a:xfrm>
            <a:off x="251119" y="3609127"/>
            <a:ext cx="970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Ko je strmina določenega polja S(</a:t>
            </a:r>
            <a:r>
              <a:rPr lang="sl-SI" dirty="0" err="1"/>
              <a:t>i,j</a:t>
            </a:r>
            <a:r>
              <a:rPr lang="sl-SI" dirty="0"/>
              <a:t>) večja od določne kritične vrednosti (</a:t>
            </a:r>
            <a:r>
              <a:rPr lang="sl-SI" b="1" i="1" dirty="0" err="1"/>
              <a:t>Sc</a:t>
            </a:r>
            <a:r>
              <a:rPr lang="sl-SI" dirty="0"/>
              <a:t>) se pesek v polju S(</a:t>
            </a:r>
            <a:r>
              <a:rPr lang="sl-SI" dirty="0" err="1"/>
              <a:t>i,j</a:t>
            </a:r>
            <a:r>
              <a:rPr lang="sl-SI" dirty="0"/>
              <a:t>) porazdeli med sosednja polja.</a:t>
            </a:r>
          </a:p>
        </p:txBody>
      </p:sp>
      <p:pic>
        <p:nvPicPr>
          <p:cNvPr id="4" name="Grafika 3">
            <a:extLst>
              <a:ext uri="{FF2B5EF4-FFF2-40B4-BE49-F238E27FC236}">
                <a16:creationId xmlns:a16="http://schemas.microsoft.com/office/drawing/2014/main" id="{F779FA1A-C204-4142-BFC4-86611D11A2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41912" y="4366872"/>
            <a:ext cx="1720982" cy="17209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jeZBesedilom 15">
                <a:extLst>
                  <a:ext uri="{FF2B5EF4-FFF2-40B4-BE49-F238E27FC236}">
                    <a16:creationId xmlns:a16="http://schemas.microsoft.com/office/drawing/2014/main" id="{E7AFF9E9-E6B5-4D0A-B113-FF04EE9963E6}"/>
                  </a:ext>
                </a:extLst>
              </p:cNvPr>
              <p:cNvSpPr txBox="1"/>
              <p:nvPr/>
            </p:nvSpPr>
            <p:spPr>
              <a:xfrm>
                <a:off x="5402767" y="4383512"/>
                <a:ext cx="2842958" cy="1938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sl-SI" b="1" dirty="0"/>
              </a:p>
              <a:p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</p:txBody>
          </p:sp>
        </mc:Choice>
        <mc:Fallback xmlns="">
          <p:sp>
            <p:nvSpPr>
              <p:cNvPr id="16" name="PoljeZBesedilom 15">
                <a:extLst>
                  <a:ext uri="{FF2B5EF4-FFF2-40B4-BE49-F238E27FC236}">
                    <a16:creationId xmlns:a16="http://schemas.microsoft.com/office/drawing/2014/main" id="{E7AFF9E9-E6B5-4D0A-B113-FF04EE996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767" y="4383512"/>
                <a:ext cx="2842958" cy="1938992"/>
              </a:xfrm>
              <a:prstGeom prst="rect">
                <a:avLst/>
              </a:prstGeom>
              <a:blipFill>
                <a:blip r:embed="rId8"/>
                <a:stretch>
                  <a:fillRect r="-214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19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78">
            <a:extLst>
              <a:ext uri="{FF2B5EF4-FFF2-40B4-BE49-F238E27FC236}">
                <a16:creationId xmlns:a16="http://schemas.microsoft.com/office/drawing/2014/main" id="{A27F90C0-6841-4262-975F-D9C3AB50C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22AE7EF9-769D-42F9-9430-F2DF739C9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PoljeZBesedilom 73">
            <a:extLst>
              <a:ext uri="{FF2B5EF4-FFF2-40B4-BE49-F238E27FC236}">
                <a16:creationId xmlns:a16="http://schemas.microsoft.com/office/drawing/2014/main" id="{82C6CFEC-AE91-4730-9DD2-6D72D9CC2C3B}"/>
              </a:ext>
            </a:extLst>
          </p:cNvPr>
          <p:cNvSpPr txBox="1"/>
          <p:nvPr/>
        </p:nvSpPr>
        <p:spPr>
          <a:xfrm>
            <a:off x="70454" y="-69743"/>
            <a:ext cx="8235346" cy="64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sl-SI" sz="3200" cap="all" dirty="0">
                <a:latin typeface="+mj-lt"/>
                <a:ea typeface="+mj-ea"/>
                <a:cs typeface="+mj-cs"/>
              </a:rPr>
              <a:t>Iterativno modeliranje evolucije sistema</a:t>
            </a:r>
            <a:endParaRPr lang="en-US" sz="3200" cap="all" dirty="0">
              <a:latin typeface="+mj-lt"/>
              <a:ea typeface="+mj-ea"/>
              <a:cs typeface="+mj-cs"/>
            </a:endParaRPr>
          </a:p>
        </p:txBody>
      </p:sp>
      <p:pic>
        <p:nvPicPr>
          <p:cNvPr id="18" name="Grafika 17">
            <a:extLst>
              <a:ext uri="{FF2B5EF4-FFF2-40B4-BE49-F238E27FC236}">
                <a16:creationId xmlns:a16="http://schemas.microsoft.com/office/drawing/2014/main" id="{ED364149-FD14-44AA-8497-A27EEA0DA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5083" y="10559"/>
            <a:ext cx="4336463" cy="177795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11E2EF0-3BCB-402C-B2C1-C6FC2BA74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9" name="Straight Connector 84">
            <a:extLst>
              <a:ext uri="{FF2B5EF4-FFF2-40B4-BE49-F238E27FC236}">
                <a16:creationId xmlns:a16="http://schemas.microsoft.com/office/drawing/2014/main" id="{BF68608F-34C2-43D6-84DB-5A870495E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60AF31F3-5A6C-4066-9A92-8FCACE32870A}"/>
              </a:ext>
            </a:extLst>
          </p:cNvPr>
          <p:cNvSpPr txBox="1"/>
          <p:nvPr/>
        </p:nvSpPr>
        <p:spPr>
          <a:xfrm>
            <a:off x="203803" y="2474402"/>
            <a:ext cx="970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Stanje sistema (podlage) v naslednjem trenutku (t+1) je odvisno od trenutnega stanja sistema (t) kot: </a:t>
            </a:r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1B72F1E2-256C-4FBE-91A3-243C5B8D0356}"/>
              </a:ext>
            </a:extLst>
          </p:cNvPr>
          <p:cNvSpPr txBox="1"/>
          <p:nvPr/>
        </p:nvSpPr>
        <p:spPr>
          <a:xfrm>
            <a:off x="203804" y="1907983"/>
            <a:ext cx="9432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 vsaki iteraciji pustimo, da </a:t>
            </a:r>
            <a:r>
              <a:rPr lang="sl-SI" b="1" dirty="0"/>
              <a:t>eno zrno peska </a:t>
            </a:r>
            <a:r>
              <a:rPr lang="sl-SI" dirty="0"/>
              <a:t>pade na središčno polje podlage.</a:t>
            </a:r>
          </a:p>
        </p:txBody>
      </p:sp>
      <p:sp>
        <p:nvSpPr>
          <p:cNvPr id="10" name="PoljeZBesedilom 9">
            <a:extLst>
              <a:ext uri="{FF2B5EF4-FFF2-40B4-BE49-F238E27FC236}">
                <a16:creationId xmlns:a16="http://schemas.microsoft.com/office/drawing/2014/main" id="{0F64B8DF-354E-4A9B-A114-14B9294151B9}"/>
              </a:ext>
            </a:extLst>
          </p:cNvPr>
          <p:cNvSpPr txBox="1"/>
          <p:nvPr/>
        </p:nvSpPr>
        <p:spPr>
          <a:xfrm>
            <a:off x="203804" y="1341565"/>
            <a:ext cx="9432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Pričnemo s podlago je prazna.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jeZBesedilom 1">
                <a:extLst>
                  <a:ext uri="{FF2B5EF4-FFF2-40B4-BE49-F238E27FC236}">
                    <a16:creationId xmlns:a16="http://schemas.microsoft.com/office/drawing/2014/main" id="{5318A40B-A6B3-4095-8038-35FB680ABECA}"/>
                  </a:ext>
                </a:extLst>
              </p:cNvPr>
              <p:cNvSpPr txBox="1"/>
              <p:nvPr/>
            </p:nvSpPr>
            <p:spPr>
              <a:xfrm>
                <a:off x="4919814" y="3152001"/>
                <a:ext cx="19044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sl-SI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sl-SI" b="1" dirty="0"/>
              </a:p>
            </p:txBody>
          </p:sp>
        </mc:Choice>
        <mc:Fallback xmlns="">
          <p:sp>
            <p:nvSpPr>
              <p:cNvPr id="2" name="PoljeZBesedilom 1">
                <a:extLst>
                  <a:ext uri="{FF2B5EF4-FFF2-40B4-BE49-F238E27FC236}">
                    <a16:creationId xmlns:a16="http://schemas.microsoft.com/office/drawing/2014/main" id="{5318A40B-A6B3-4095-8038-35FB680AB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814" y="3152001"/>
                <a:ext cx="1904432" cy="276999"/>
              </a:xfrm>
              <a:prstGeom prst="rect">
                <a:avLst/>
              </a:prstGeom>
              <a:blipFill>
                <a:blip r:embed="rId5"/>
                <a:stretch>
                  <a:fillRect l="-1923" r="-2564" b="-8696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B21F9D24-DBE0-4FBB-B9D1-94CAA3F8BF2F}"/>
              </a:ext>
            </a:extLst>
          </p:cNvPr>
          <p:cNvSpPr txBox="1"/>
          <p:nvPr/>
        </p:nvSpPr>
        <p:spPr>
          <a:xfrm>
            <a:off x="251119" y="3609127"/>
            <a:ext cx="970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Ko je strmina določenega polja S(</a:t>
            </a:r>
            <a:r>
              <a:rPr lang="sl-SI" dirty="0" err="1"/>
              <a:t>i,j</a:t>
            </a:r>
            <a:r>
              <a:rPr lang="sl-SI" dirty="0"/>
              <a:t>) večja od določne kritične vrednosti (</a:t>
            </a:r>
            <a:r>
              <a:rPr lang="sl-SI" b="1" i="1" dirty="0" err="1"/>
              <a:t>Sc</a:t>
            </a:r>
            <a:r>
              <a:rPr lang="sl-SI" dirty="0"/>
              <a:t>) se pesek v polju S(</a:t>
            </a:r>
            <a:r>
              <a:rPr lang="sl-SI" dirty="0" err="1"/>
              <a:t>i,j</a:t>
            </a:r>
            <a:r>
              <a:rPr lang="sl-SI" dirty="0"/>
              <a:t>) porazdeli med sosednja polja.</a:t>
            </a:r>
          </a:p>
        </p:txBody>
      </p:sp>
      <p:pic>
        <p:nvPicPr>
          <p:cNvPr id="4" name="Grafika 3">
            <a:extLst>
              <a:ext uri="{FF2B5EF4-FFF2-40B4-BE49-F238E27FC236}">
                <a16:creationId xmlns:a16="http://schemas.microsoft.com/office/drawing/2014/main" id="{F779FA1A-C204-4142-BFC4-86611D11A2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41912" y="4366872"/>
            <a:ext cx="1720982" cy="17209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jeZBesedilom 15">
                <a:extLst>
                  <a:ext uri="{FF2B5EF4-FFF2-40B4-BE49-F238E27FC236}">
                    <a16:creationId xmlns:a16="http://schemas.microsoft.com/office/drawing/2014/main" id="{E7AFF9E9-E6B5-4D0A-B113-FF04EE9963E6}"/>
                  </a:ext>
                </a:extLst>
              </p:cNvPr>
              <p:cNvSpPr txBox="1"/>
              <p:nvPr/>
            </p:nvSpPr>
            <p:spPr>
              <a:xfrm>
                <a:off x="5402767" y="4383512"/>
                <a:ext cx="2842958" cy="1938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sl-SI" b="1" dirty="0"/>
              </a:p>
              <a:p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</p:txBody>
          </p:sp>
        </mc:Choice>
        <mc:Fallback xmlns="">
          <p:sp>
            <p:nvSpPr>
              <p:cNvPr id="16" name="PoljeZBesedilom 15">
                <a:extLst>
                  <a:ext uri="{FF2B5EF4-FFF2-40B4-BE49-F238E27FC236}">
                    <a16:creationId xmlns:a16="http://schemas.microsoft.com/office/drawing/2014/main" id="{E7AFF9E9-E6B5-4D0A-B113-FF04EE996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767" y="4383512"/>
                <a:ext cx="2842958" cy="1938992"/>
              </a:xfrm>
              <a:prstGeom prst="rect">
                <a:avLst/>
              </a:prstGeom>
              <a:blipFill>
                <a:blip r:embed="rId8"/>
                <a:stretch>
                  <a:fillRect r="-214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810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78">
            <a:extLst>
              <a:ext uri="{FF2B5EF4-FFF2-40B4-BE49-F238E27FC236}">
                <a16:creationId xmlns:a16="http://schemas.microsoft.com/office/drawing/2014/main" id="{A27F90C0-6841-4262-975F-D9C3AB50C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22AE7EF9-769D-42F9-9430-F2DF739C9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PoljeZBesedilom 73">
            <a:extLst>
              <a:ext uri="{FF2B5EF4-FFF2-40B4-BE49-F238E27FC236}">
                <a16:creationId xmlns:a16="http://schemas.microsoft.com/office/drawing/2014/main" id="{82C6CFEC-AE91-4730-9DD2-6D72D9CC2C3B}"/>
              </a:ext>
            </a:extLst>
          </p:cNvPr>
          <p:cNvSpPr txBox="1"/>
          <p:nvPr/>
        </p:nvSpPr>
        <p:spPr>
          <a:xfrm>
            <a:off x="70454" y="-69743"/>
            <a:ext cx="8235346" cy="64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sl-SI" sz="3200" cap="all" dirty="0">
                <a:latin typeface="+mj-lt"/>
                <a:ea typeface="+mj-ea"/>
                <a:cs typeface="+mj-cs"/>
              </a:rPr>
              <a:t>Iterativno modeliranje evolucije sistema</a:t>
            </a:r>
            <a:endParaRPr lang="en-US" sz="3200" cap="all" dirty="0">
              <a:latin typeface="+mj-lt"/>
              <a:ea typeface="+mj-ea"/>
              <a:cs typeface="+mj-cs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511E2EF0-3BCB-402C-B2C1-C6FC2BA74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9" name="Straight Connector 84">
            <a:extLst>
              <a:ext uri="{FF2B5EF4-FFF2-40B4-BE49-F238E27FC236}">
                <a16:creationId xmlns:a16="http://schemas.microsoft.com/office/drawing/2014/main" id="{BF68608F-34C2-43D6-84DB-5A870495E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a 14">
            <a:extLst>
              <a:ext uri="{FF2B5EF4-FFF2-40B4-BE49-F238E27FC236}">
                <a16:creationId xmlns:a16="http://schemas.microsoft.com/office/drawing/2014/main" id="{30E094AE-AAA5-4AE0-88DD-012FB698E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54" y="852602"/>
            <a:ext cx="5521966" cy="2264006"/>
          </a:xfrm>
          <a:prstGeom prst="rect">
            <a:avLst/>
          </a:prstGeom>
        </p:spPr>
      </p:pic>
      <p:pic>
        <p:nvPicPr>
          <p:cNvPr id="17" name="Grafika 16">
            <a:extLst>
              <a:ext uri="{FF2B5EF4-FFF2-40B4-BE49-F238E27FC236}">
                <a16:creationId xmlns:a16="http://schemas.microsoft.com/office/drawing/2014/main" id="{D9F3011E-C3FD-4FAB-A56E-7FF32A853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4818" y="852602"/>
            <a:ext cx="1720982" cy="17209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jeZBesedilom 18">
                <a:extLst>
                  <a:ext uri="{FF2B5EF4-FFF2-40B4-BE49-F238E27FC236}">
                    <a16:creationId xmlns:a16="http://schemas.microsoft.com/office/drawing/2014/main" id="{A70533FD-CE7C-4486-823A-084860F08732}"/>
                  </a:ext>
                </a:extLst>
              </p:cNvPr>
              <p:cNvSpPr txBox="1"/>
              <p:nvPr/>
            </p:nvSpPr>
            <p:spPr>
              <a:xfrm>
                <a:off x="9145673" y="869242"/>
                <a:ext cx="2842958" cy="1938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sl-SI" b="1" dirty="0"/>
              </a:p>
              <a:p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sl-SI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l-SI" b="1" dirty="0"/>
              </a:p>
            </p:txBody>
          </p:sp>
        </mc:Choice>
        <mc:Fallback xmlns="">
          <p:sp>
            <p:nvSpPr>
              <p:cNvPr id="19" name="PoljeZBesedilom 18">
                <a:extLst>
                  <a:ext uri="{FF2B5EF4-FFF2-40B4-BE49-F238E27FC236}">
                    <a16:creationId xmlns:a16="http://schemas.microsoft.com/office/drawing/2014/main" id="{A70533FD-CE7C-4486-823A-084860F08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673" y="869242"/>
                <a:ext cx="2842958" cy="1938992"/>
              </a:xfrm>
              <a:prstGeom prst="rect">
                <a:avLst/>
              </a:prstGeom>
              <a:blipFill>
                <a:blip r:embed="rId7"/>
                <a:stretch>
                  <a:fillRect r="-214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Slika 4">
            <a:extLst>
              <a:ext uri="{FF2B5EF4-FFF2-40B4-BE49-F238E27FC236}">
                <a16:creationId xmlns:a16="http://schemas.microsoft.com/office/drawing/2014/main" id="{A985EE9D-8911-439F-93B9-8004B10D4F9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562" b="6586"/>
          <a:stretch/>
        </p:blipFill>
        <p:spPr>
          <a:xfrm>
            <a:off x="175235" y="2764183"/>
            <a:ext cx="11841227" cy="3284192"/>
          </a:xfrm>
          <a:prstGeom prst="rect">
            <a:avLst/>
          </a:prstGeom>
        </p:spPr>
      </p:pic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53C821FC-9155-4142-8213-8F2BEB175678}"/>
              </a:ext>
            </a:extLst>
          </p:cNvPr>
          <p:cNvSpPr txBox="1"/>
          <p:nvPr/>
        </p:nvSpPr>
        <p:spPr>
          <a:xfrm>
            <a:off x="5681320" y="3298831"/>
            <a:ext cx="552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b="1" dirty="0">
                <a:solidFill>
                  <a:srgbClr val="202122"/>
                </a:solidFill>
                <a:latin typeface="Arial" panose="020B0604020202020204" pitchFamily="34" charset="0"/>
              </a:rPr>
              <a:t>Preverjanje strmine posameznih polj izvedemo </a:t>
            </a:r>
          </a:p>
          <a:p>
            <a:pPr algn="ctr"/>
            <a:r>
              <a:rPr lang="sl-SI" b="1" dirty="0">
                <a:solidFill>
                  <a:srgbClr val="202122"/>
                </a:solidFill>
                <a:latin typeface="Arial" panose="020B0604020202020204" pitchFamily="34" charset="0"/>
              </a:rPr>
              <a:t>z uporabo rekurzivne funkcije.</a:t>
            </a:r>
            <a:endParaRPr lang="sl-SI" b="1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PoljeZBesedilom 2">
            <a:extLst>
              <a:ext uri="{FF2B5EF4-FFF2-40B4-BE49-F238E27FC236}">
                <a16:creationId xmlns:a16="http://schemas.microsoft.com/office/drawing/2014/main" id="{B2F1EBDB-C57D-4C75-930F-009943BE0D7F}"/>
              </a:ext>
            </a:extLst>
          </p:cNvPr>
          <p:cNvSpPr txBox="1"/>
          <p:nvPr/>
        </p:nvSpPr>
        <p:spPr>
          <a:xfrm>
            <a:off x="1356329" y="6299191"/>
            <a:ext cx="11454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Rekurzija pomeni, da funkcijo definiramo na takšen način, da se sama pojavi v definiciji.</a:t>
            </a:r>
          </a:p>
        </p:txBody>
      </p:sp>
    </p:spTree>
    <p:extLst>
      <p:ext uri="{BB962C8B-B14F-4D97-AF65-F5344CB8AC3E}">
        <p14:creationId xmlns:p14="http://schemas.microsoft.com/office/powerpoint/2010/main" val="267306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1646C48-4125-49B7-B41E-2A52D9F7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2. Del vaj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50D7B07-5D8E-7B83-2496-8A9E5823CA91}"/>
              </a:ext>
            </a:extLst>
          </p:cNvPr>
          <p:cNvSpPr txBox="1">
            <a:spLocks/>
          </p:cNvSpPr>
          <p:nvPr/>
        </p:nvSpPr>
        <p:spPr>
          <a:xfrm>
            <a:off x="1451580" y="2015732"/>
            <a:ext cx="5245356" cy="33027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sl-SI" dirty="0">
                <a:solidFill>
                  <a:srgbClr val="00B050"/>
                </a:solidFill>
              </a:rPr>
              <a:t>Rekurzivna funkcije</a:t>
            </a:r>
          </a:p>
          <a:p>
            <a:r>
              <a:rPr lang="sl-SI" dirty="0" err="1">
                <a:solidFill>
                  <a:srgbClr val="00B050"/>
                </a:solidFill>
              </a:rPr>
              <a:t>Agentno</a:t>
            </a:r>
            <a:r>
              <a:rPr lang="sl-SI" dirty="0">
                <a:solidFill>
                  <a:srgbClr val="00B050"/>
                </a:solidFill>
              </a:rPr>
              <a:t> modeliranje</a:t>
            </a:r>
          </a:p>
          <a:p>
            <a:r>
              <a:rPr lang="sl-SI" dirty="0">
                <a:solidFill>
                  <a:srgbClr val="00B050"/>
                </a:solidFill>
              </a:rPr>
              <a:t>Vizualizacija matrike</a:t>
            </a:r>
          </a:p>
          <a:p>
            <a:r>
              <a:rPr lang="sl-SI" dirty="0"/>
              <a:t>Izračun porazdelitve velikosti dogodkov</a:t>
            </a:r>
          </a:p>
          <a:p>
            <a:r>
              <a:rPr lang="sl-SI" dirty="0"/>
              <a:t>Prilagajanje funkcije porazdelitvi</a:t>
            </a:r>
          </a:p>
          <a:p>
            <a:r>
              <a:rPr lang="sl-SI" dirty="0" err="1"/>
              <a:t>Animiranje</a:t>
            </a:r>
            <a:r>
              <a:rPr lang="sl-SI" dirty="0"/>
              <a:t> simulacije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8358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E6E0527-EFBC-E2FD-B8C8-4C695EA1D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554381"/>
          </a:xfrm>
        </p:spPr>
        <p:txBody>
          <a:bodyPr/>
          <a:lstStyle/>
          <a:p>
            <a:r>
              <a:rPr lang="sl-SI" dirty="0"/>
              <a:t>Analiza rezultatov modela plazov </a:t>
            </a:r>
            <a:r>
              <a:rPr lang="sl-SI" dirty="0">
                <a:solidFill>
                  <a:schemeClr val="accent2">
                    <a:lumMod val="75000"/>
                  </a:schemeClr>
                </a:solidFill>
              </a:rPr>
              <a:t>(Slika 1)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2BCE916-24E1-FF4F-B2B2-331F5FC6A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1413268"/>
          </a:xfrm>
        </p:spPr>
        <p:txBody>
          <a:bodyPr>
            <a:normAutofit lnSpcReduction="10000"/>
          </a:bodyPr>
          <a:lstStyle/>
          <a:p>
            <a:r>
              <a:rPr lang="sl-SI" dirty="0"/>
              <a:t>Graf, ki bo prikazoval, kako se število dogodkov spreminja skozi iteracije modela.</a:t>
            </a:r>
          </a:p>
          <a:p>
            <a:r>
              <a:rPr lang="sl-SI" dirty="0"/>
              <a:t>Graf, ki bo prikazoval porazdelitev velikosti plazov</a:t>
            </a:r>
          </a:p>
          <a:p>
            <a:r>
              <a:rPr lang="sl-SI" dirty="0"/>
              <a:t>Graf, ki bo prikazoval končno stanje matrike</a:t>
            </a:r>
          </a:p>
          <a:p>
            <a:endParaRPr lang="sl-SI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B664F2-B169-5D94-DD45-4E0884828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3429000"/>
            <a:ext cx="9017000" cy="31970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58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E6E0527-EFBC-E2FD-B8C8-4C695EA1D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554381"/>
          </a:xfrm>
        </p:spPr>
        <p:txBody>
          <a:bodyPr/>
          <a:lstStyle/>
          <a:p>
            <a:r>
              <a:rPr lang="sl-SI" dirty="0"/>
              <a:t>Analiza rezultatov modela plazov </a:t>
            </a:r>
            <a:r>
              <a:rPr lang="sl-SI" dirty="0">
                <a:solidFill>
                  <a:srgbClr val="00B050"/>
                </a:solidFill>
              </a:rPr>
              <a:t>(Slika 2)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2BCE916-24E1-FF4F-B2B2-331F5FC6A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1" y="2345932"/>
            <a:ext cx="5524500" cy="2949968"/>
          </a:xfrm>
        </p:spPr>
        <p:txBody>
          <a:bodyPr>
            <a:normAutofit/>
          </a:bodyPr>
          <a:lstStyle/>
          <a:p>
            <a:r>
              <a:rPr lang="sl-SI" dirty="0"/>
              <a:t>Dolžina časa potrebnega za N iteracij v teku simulacije.</a:t>
            </a:r>
          </a:p>
          <a:p>
            <a:r>
              <a:rPr lang="sl-SI" dirty="0"/>
              <a:t>Na grafu želimo imeti tudi črte, ki prikazujejo gibajoče povprečje za izbrano število podatkov</a:t>
            </a:r>
          </a:p>
          <a:p>
            <a:endParaRPr lang="sl-SI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1AB092F-E222-2001-7AB5-1B0D9925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33576"/>
            <a:ext cx="5651499" cy="42265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965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4C8EF6E-140E-D662-5B2C-6A44B964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Analiza rezultatov modela plazov </a:t>
            </a:r>
            <a:r>
              <a:rPr lang="sl-SI" dirty="0">
                <a:solidFill>
                  <a:srgbClr val="00B050"/>
                </a:solidFill>
              </a:rPr>
              <a:t>(Slika 3)</a:t>
            </a:r>
            <a:endParaRPr lang="sl-SI" dirty="0"/>
          </a:p>
        </p:txBody>
      </p:sp>
      <p:sp>
        <p:nvSpPr>
          <p:cNvPr id="4" name="Označba mesta vsebine 2">
            <a:extLst>
              <a:ext uri="{FF2B5EF4-FFF2-40B4-BE49-F238E27FC236}">
                <a16:creationId xmlns:a16="http://schemas.microsoft.com/office/drawing/2014/main" id="{FA117786-3615-8FB5-A493-112C070A5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4932"/>
            <a:ext cx="5524500" cy="498868"/>
          </a:xfrm>
        </p:spPr>
        <p:txBody>
          <a:bodyPr>
            <a:normAutofit/>
          </a:bodyPr>
          <a:lstStyle/>
          <a:p>
            <a:r>
              <a:rPr lang="sl-SI" dirty="0"/>
              <a:t>Kateri funkciji sledi naša porazdelitev?</a:t>
            </a:r>
          </a:p>
          <a:p>
            <a:endParaRPr lang="sl-SI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DA407C07-2A15-1CFB-CD3B-DAD6DEEE6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367937"/>
            <a:ext cx="4262845" cy="32532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jeZBesedilom 7">
                <a:extLst>
                  <a:ext uri="{FF2B5EF4-FFF2-40B4-BE49-F238E27FC236}">
                    <a16:creationId xmlns:a16="http://schemas.microsoft.com/office/drawing/2014/main" id="{0D47DD58-5B20-BBE0-657A-62E0CE222168}"/>
                  </a:ext>
                </a:extLst>
              </p:cNvPr>
              <p:cNvSpPr txBox="1"/>
              <p:nvPr/>
            </p:nvSpPr>
            <p:spPr>
              <a:xfrm>
                <a:off x="6023610" y="3022066"/>
                <a:ext cx="17273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>
          <p:sp>
            <p:nvSpPr>
              <p:cNvPr id="8" name="PoljeZBesedilom 7">
                <a:extLst>
                  <a:ext uri="{FF2B5EF4-FFF2-40B4-BE49-F238E27FC236}">
                    <a16:creationId xmlns:a16="http://schemas.microsoft.com/office/drawing/2014/main" id="{0D47DD58-5B20-BBE0-657A-62E0CE222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610" y="3022066"/>
                <a:ext cx="1727396" cy="276999"/>
              </a:xfrm>
              <a:prstGeom prst="rect">
                <a:avLst/>
              </a:prstGeom>
              <a:blipFill>
                <a:blip r:embed="rId3"/>
                <a:stretch>
                  <a:fillRect l="-2473" r="-1413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PoljeZBesedilom 8">
                <a:extLst>
                  <a:ext uri="{FF2B5EF4-FFF2-40B4-BE49-F238E27FC236}">
                    <a16:creationId xmlns:a16="http://schemas.microsoft.com/office/drawing/2014/main" id="{AA21F12C-FC3E-3881-A950-B0FBE3C9911E}"/>
                  </a:ext>
                </a:extLst>
              </p:cNvPr>
              <p:cNvSpPr txBox="1"/>
              <p:nvPr/>
            </p:nvSpPr>
            <p:spPr>
              <a:xfrm>
                <a:off x="6023610" y="3565953"/>
                <a:ext cx="14481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</m:oMath>
                  </m:oMathPara>
                </a14:m>
                <a:endParaRPr lang="sl-SI" dirty="0"/>
              </a:p>
            </p:txBody>
          </p:sp>
        </mc:Choice>
        <mc:Fallback>
          <p:sp>
            <p:nvSpPr>
              <p:cNvPr id="9" name="PoljeZBesedilom 8">
                <a:extLst>
                  <a:ext uri="{FF2B5EF4-FFF2-40B4-BE49-F238E27FC236}">
                    <a16:creationId xmlns:a16="http://schemas.microsoft.com/office/drawing/2014/main" id="{AA21F12C-FC3E-3881-A950-B0FBE3C99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610" y="3565953"/>
                <a:ext cx="1448153" cy="276999"/>
              </a:xfrm>
              <a:prstGeom prst="rect">
                <a:avLst/>
              </a:prstGeom>
              <a:blipFill>
                <a:blip r:embed="rId4"/>
                <a:stretch>
                  <a:fillRect l="-3361" t="-2222" r="-420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PoljeZBesedilom 9">
                <a:extLst>
                  <a:ext uri="{FF2B5EF4-FFF2-40B4-BE49-F238E27FC236}">
                    <a16:creationId xmlns:a16="http://schemas.microsoft.com/office/drawing/2014/main" id="{7359EE4F-7BD7-BF48-564D-210074A07656}"/>
                  </a:ext>
                </a:extLst>
              </p:cNvPr>
              <p:cNvSpPr txBox="1"/>
              <p:nvPr/>
            </p:nvSpPr>
            <p:spPr>
              <a:xfrm>
                <a:off x="6023610" y="4117202"/>
                <a:ext cx="16239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sl-SI" dirty="0"/>
              </a:p>
            </p:txBody>
          </p:sp>
        </mc:Choice>
        <mc:Fallback>
          <p:sp>
            <p:nvSpPr>
              <p:cNvPr id="10" name="PoljeZBesedilom 9">
                <a:extLst>
                  <a:ext uri="{FF2B5EF4-FFF2-40B4-BE49-F238E27FC236}">
                    <a16:creationId xmlns:a16="http://schemas.microsoft.com/office/drawing/2014/main" id="{7359EE4F-7BD7-BF48-564D-210074A07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610" y="4117202"/>
                <a:ext cx="1623906" cy="276999"/>
              </a:xfrm>
              <a:prstGeom prst="rect">
                <a:avLst/>
              </a:prstGeom>
              <a:blipFill>
                <a:blip r:embed="rId5"/>
                <a:stretch>
                  <a:fillRect l="-2996" t="-2174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C09AFEEC-A018-4AF6-80B0-91CB16BF62C0}"/>
              </a:ext>
            </a:extLst>
          </p:cNvPr>
          <p:cNvSpPr txBox="1"/>
          <p:nvPr/>
        </p:nvSpPr>
        <p:spPr>
          <a:xfrm>
            <a:off x="7863840" y="2975899"/>
            <a:ext cx="3272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Porazdelitev sledi linearni funkciji</a:t>
            </a:r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A7072486-62F8-5E8D-A592-7BFBB6F1F37B}"/>
              </a:ext>
            </a:extLst>
          </p:cNvPr>
          <p:cNvSpPr txBox="1"/>
          <p:nvPr/>
        </p:nvSpPr>
        <p:spPr>
          <a:xfrm>
            <a:off x="7863324" y="3492193"/>
            <a:ext cx="340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Porazdelitev sledi potenčni funkciji</a:t>
            </a:r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25ADAE4-E052-4D4B-689A-6D91E5E7D2AC}"/>
              </a:ext>
            </a:extLst>
          </p:cNvPr>
          <p:cNvSpPr txBox="1"/>
          <p:nvPr/>
        </p:nvSpPr>
        <p:spPr>
          <a:xfrm>
            <a:off x="7863324" y="4026038"/>
            <a:ext cx="3609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Porazdelitev sledi eksponenti funkciji</a:t>
            </a:r>
          </a:p>
        </p:txBody>
      </p:sp>
    </p:spTree>
    <p:extLst>
      <p:ext uri="{BB962C8B-B14F-4D97-AF65-F5344CB8AC3E}">
        <p14:creationId xmlns:p14="http://schemas.microsoft.com/office/powerpoint/2010/main" val="787822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A119897-072B-E829-2ABF-FF6B829B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Eksponentna VS potenčna funkcija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jeZBesedilom 3">
                <a:extLst>
                  <a:ext uri="{FF2B5EF4-FFF2-40B4-BE49-F238E27FC236}">
                    <a16:creationId xmlns:a16="http://schemas.microsoft.com/office/drawing/2014/main" id="{1624D33C-7247-26B1-E85C-4477EC6F1BAB}"/>
                  </a:ext>
                </a:extLst>
              </p:cNvPr>
              <p:cNvSpPr txBox="1"/>
              <p:nvPr/>
            </p:nvSpPr>
            <p:spPr>
              <a:xfrm>
                <a:off x="7623032" y="2391797"/>
                <a:ext cx="35146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4" name="PoljeZBesedilom 3">
                <a:extLst>
                  <a:ext uri="{FF2B5EF4-FFF2-40B4-BE49-F238E27FC236}">
                    <a16:creationId xmlns:a16="http://schemas.microsoft.com/office/drawing/2014/main" id="{1624D33C-7247-26B1-E85C-4477EC6F1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032" y="2391797"/>
                <a:ext cx="3514610" cy="276999"/>
              </a:xfrm>
              <a:prstGeom prst="rect">
                <a:avLst/>
              </a:prstGeom>
              <a:blipFill>
                <a:blip r:embed="rId2"/>
                <a:stretch>
                  <a:fillRect t="-2174" b="-26087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jeZBesedilom 4">
                <a:extLst>
                  <a:ext uri="{FF2B5EF4-FFF2-40B4-BE49-F238E27FC236}">
                    <a16:creationId xmlns:a16="http://schemas.microsoft.com/office/drawing/2014/main" id="{5FE779AE-E18F-7A49-8CE1-3FD75BE236D0}"/>
                  </a:ext>
                </a:extLst>
              </p:cNvPr>
              <p:cNvSpPr txBox="1"/>
              <p:nvPr/>
            </p:nvSpPr>
            <p:spPr>
              <a:xfrm>
                <a:off x="1054358" y="2391797"/>
                <a:ext cx="36482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5" name="PoljeZBesedilom 4">
                <a:extLst>
                  <a:ext uri="{FF2B5EF4-FFF2-40B4-BE49-F238E27FC236}">
                    <a16:creationId xmlns:a16="http://schemas.microsoft.com/office/drawing/2014/main" id="{5FE779AE-E18F-7A49-8CE1-3FD75BE23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358" y="2391797"/>
                <a:ext cx="3648269" cy="276999"/>
              </a:xfrm>
              <a:prstGeom prst="rect">
                <a:avLst/>
              </a:prstGeom>
              <a:blipFill>
                <a:blip r:embed="rId3"/>
                <a:stretch>
                  <a:fillRect t="-2174" b="-26087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jeZBesedilom 5">
                <a:extLst>
                  <a:ext uri="{FF2B5EF4-FFF2-40B4-BE49-F238E27FC236}">
                    <a16:creationId xmlns:a16="http://schemas.microsoft.com/office/drawing/2014/main" id="{56872405-3393-0730-AE30-6008A045A53A}"/>
                  </a:ext>
                </a:extLst>
              </p:cNvPr>
              <p:cNvSpPr txBox="1"/>
              <p:nvPr/>
            </p:nvSpPr>
            <p:spPr>
              <a:xfrm>
                <a:off x="1054358" y="2890623"/>
                <a:ext cx="356429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sl-SI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sl-SI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6" name="PoljeZBesedilom 5">
                <a:extLst>
                  <a:ext uri="{FF2B5EF4-FFF2-40B4-BE49-F238E27FC236}">
                    <a16:creationId xmlns:a16="http://schemas.microsoft.com/office/drawing/2014/main" id="{56872405-3393-0730-AE30-6008A045A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358" y="2890623"/>
                <a:ext cx="3564295" cy="276999"/>
              </a:xfrm>
              <a:prstGeom prst="rect">
                <a:avLst/>
              </a:prstGeom>
              <a:blipFill>
                <a:blip r:embed="rId4"/>
                <a:stretch>
                  <a:fillRect t="-2174" b="-34783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FCE1C10B-F205-050D-FEF0-D0AB7B01C3B0}"/>
                  </a:ext>
                </a:extLst>
              </p:cNvPr>
              <p:cNvSpPr txBox="1"/>
              <p:nvPr/>
            </p:nvSpPr>
            <p:spPr>
              <a:xfrm>
                <a:off x="1054357" y="3389449"/>
                <a:ext cx="36482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sl-SI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sl-SI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l-SI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sl-SI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FCE1C10B-F205-050D-FEF0-D0AB7B01C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357" y="3389449"/>
                <a:ext cx="3648269" cy="276999"/>
              </a:xfrm>
              <a:prstGeom prst="rect">
                <a:avLst/>
              </a:prstGeom>
              <a:blipFill>
                <a:blip r:embed="rId5"/>
                <a:stretch>
                  <a:fillRect b="-37778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jeZBesedilom 8">
                <a:extLst>
                  <a:ext uri="{FF2B5EF4-FFF2-40B4-BE49-F238E27FC236}">
                    <a16:creationId xmlns:a16="http://schemas.microsoft.com/office/drawing/2014/main" id="{BCD1B1CA-6212-5706-94BE-12BB0A00D430}"/>
                  </a:ext>
                </a:extLst>
              </p:cNvPr>
              <p:cNvSpPr txBox="1"/>
              <p:nvPr/>
            </p:nvSpPr>
            <p:spPr>
              <a:xfrm>
                <a:off x="1054357" y="3875617"/>
                <a:ext cx="3648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sl-SI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sl-SI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9" name="PoljeZBesedilom 8">
                <a:extLst>
                  <a:ext uri="{FF2B5EF4-FFF2-40B4-BE49-F238E27FC236}">
                    <a16:creationId xmlns:a16="http://schemas.microsoft.com/office/drawing/2014/main" id="{BCD1B1CA-6212-5706-94BE-12BB0A00D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357" y="3875617"/>
                <a:ext cx="3648270" cy="369332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jeZBesedilom 9">
                <a:extLst>
                  <a:ext uri="{FF2B5EF4-FFF2-40B4-BE49-F238E27FC236}">
                    <a16:creationId xmlns:a16="http://schemas.microsoft.com/office/drawing/2014/main" id="{3DE87951-5256-C113-C25A-CCEC0526EEBB}"/>
                  </a:ext>
                </a:extLst>
              </p:cNvPr>
              <p:cNvSpPr txBox="1"/>
              <p:nvPr/>
            </p:nvSpPr>
            <p:spPr>
              <a:xfrm>
                <a:off x="970383" y="4688603"/>
                <a:ext cx="3648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sl-SI" sz="28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l-SI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sl-SI" sz="28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sl-SI" sz="28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sl-SI" sz="28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l-SI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sl-SI" sz="2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sz="28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sz="2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2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10" name="PoljeZBesedilom 9">
                <a:extLst>
                  <a:ext uri="{FF2B5EF4-FFF2-40B4-BE49-F238E27FC236}">
                    <a16:creationId xmlns:a16="http://schemas.microsoft.com/office/drawing/2014/main" id="{3DE87951-5256-C113-C25A-CCEC0526E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383" y="4688603"/>
                <a:ext cx="364827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jeZBesedilom 10">
                <a:extLst>
                  <a:ext uri="{FF2B5EF4-FFF2-40B4-BE49-F238E27FC236}">
                    <a16:creationId xmlns:a16="http://schemas.microsoft.com/office/drawing/2014/main" id="{13C677BA-0CF6-97B9-D703-90E83B895F8A}"/>
                  </a:ext>
                </a:extLst>
              </p:cNvPr>
              <p:cNvSpPr txBox="1"/>
              <p:nvPr/>
            </p:nvSpPr>
            <p:spPr>
              <a:xfrm>
                <a:off x="7573349" y="2903564"/>
                <a:ext cx="35146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sl-SI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sl-SI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11" name="PoljeZBesedilom 10">
                <a:extLst>
                  <a:ext uri="{FF2B5EF4-FFF2-40B4-BE49-F238E27FC236}">
                    <a16:creationId xmlns:a16="http://schemas.microsoft.com/office/drawing/2014/main" id="{13C677BA-0CF6-97B9-D703-90E83B895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349" y="2903564"/>
                <a:ext cx="3514610" cy="276999"/>
              </a:xfrm>
              <a:prstGeom prst="rect">
                <a:avLst/>
              </a:prstGeom>
              <a:blipFill>
                <a:blip r:embed="rId8"/>
                <a:stretch>
                  <a:fillRect t="-2174" b="-34783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jeZBesedilom 11">
                <a:extLst>
                  <a:ext uri="{FF2B5EF4-FFF2-40B4-BE49-F238E27FC236}">
                    <a16:creationId xmlns:a16="http://schemas.microsoft.com/office/drawing/2014/main" id="{25C23148-0168-FB5E-E162-A4E400E6DCA4}"/>
                  </a:ext>
                </a:extLst>
              </p:cNvPr>
              <p:cNvSpPr txBox="1"/>
              <p:nvPr/>
            </p:nvSpPr>
            <p:spPr>
              <a:xfrm>
                <a:off x="7573349" y="3384663"/>
                <a:ext cx="35146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sl-SI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12" name="PoljeZBesedilom 11">
                <a:extLst>
                  <a:ext uri="{FF2B5EF4-FFF2-40B4-BE49-F238E27FC236}">
                    <a16:creationId xmlns:a16="http://schemas.microsoft.com/office/drawing/2014/main" id="{25C23148-0168-FB5E-E162-A4E400E6D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349" y="3384663"/>
                <a:ext cx="3514610" cy="276999"/>
              </a:xfrm>
              <a:prstGeom prst="rect">
                <a:avLst/>
              </a:prstGeom>
              <a:blipFill>
                <a:blip r:embed="rId9"/>
                <a:stretch>
                  <a:fillRect t="-2174" b="-34783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jeZBesedilom 12">
                <a:extLst>
                  <a:ext uri="{FF2B5EF4-FFF2-40B4-BE49-F238E27FC236}">
                    <a16:creationId xmlns:a16="http://schemas.microsoft.com/office/drawing/2014/main" id="{9C9622BA-3778-C18B-5E78-FEF678065531}"/>
                  </a:ext>
                </a:extLst>
              </p:cNvPr>
              <p:cNvSpPr txBox="1"/>
              <p:nvPr/>
            </p:nvSpPr>
            <p:spPr>
              <a:xfrm>
                <a:off x="7573349" y="3875617"/>
                <a:ext cx="35146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sl-SI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sl-SI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sl-SI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13" name="PoljeZBesedilom 12">
                <a:extLst>
                  <a:ext uri="{FF2B5EF4-FFF2-40B4-BE49-F238E27FC236}">
                    <a16:creationId xmlns:a16="http://schemas.microsoft.com/office/drawing/2014/main" id="{9C9622BA-3778-C18B-5E78-FEF678065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349" y="3875617"/>
                <a:ext cx="3514610" cy="276999"/>
              </a:xfrm>
              <a:prstGeom prst="rect">
                <a:avLst/>
              </a:prstGeom>
              <a:blipFill>
                <a:blip r:embed="rId10"/>
                <a:stretch>
                  <a:fillRect b="-37778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jeZBesedilom 13">
                <a:extLst>
                  <a:ext uri="{FF2B5EF4-FFF2-40B4-BE49-F238E27FC236}">
                    <a16:creationId xmlns:a16="http://schemas.microsoft.com/office/drawing/2014/main" id="{43F216D9-68FE-9F03-D026-D0D9C38F8AA9}"/>
                  </a:ext>
                </a:extLst>
              </p:cNvPr>
              <p:cNvSpPr txBox="1"/>
              <p:nvPr/>
            </p:nvSpPr>
            <p:spPr>
              <a:xfrm>
                <a:off x="7623032" y="4811713"/>
                <a:ext cx="35146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l-SI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l-SI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sl-SI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sl-SI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sl-SI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l-SI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PoljeZBesedilom 13">
                <a:extLst>
                  <a:ext uri="{FF2B5EF4-FFF2-40B4-BE49-F238E27FC236}">
                    <a16:creationId xmlns:a16="http://schemas.microsoft.com/office/drawing/2014/main" id="{43F216D9-68FE-9F03-D026-D0D9C38F8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032" y="4811713"/>
                <a:ext cx="3514610" cy="369332"/>
              </a:xfrm>
              <a:prstGeom prst="rect">
                <a:avLst/>
              </a:prstGeom>
              <a:blipFill>
                <a:blip r:embed="rId11"/>
                <a:stretch>
                  <a:fillRect r="-867" b="-36066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jeZBesedilom 14">
                <a:extLst>
                  <a:ext uri="{FF2B5EF4-FFF2-40B4-BE49-F238E27FC236}">
                    <a16:creationId xmlns:a16="http://schemas.microsoft.com/office/drawing/2014/main" id="{F125D058-2E33-EFAE-C798-934E5CB0013F}"/>
                  </a:ext>
                </a:extLst>
              </p:cNvPr>
              <p:cNvSpPr txBox="1"/>
              <p:nvPr/>
            </p:nvSpPr>
            <p:spPr>
              <a:xfrm>
                <a:off x="7741996" y="5323480"/>
                <a:ext cx="331285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15" name="PoljeZBesedilom 14">
                <a:extLst>
                  <a:ext uri="{FF2B5EF4-FFF2-40B4-BE49-F238E27FC236}">
                    <a16:creationId xmlns:a16="http://schemas.microsoft.com/office/drawing/2014/main" id="{F125D058-2E33-EFAE-C798-934E5CB00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996" y="5323480"/>
                <a:ext cx="3312857" cy="276999"/>
              </a:xfrm>
              <a:prstGeom prst="rect">
                <a:avLst/>
              </a:prstGeom>
              <a:blipFill>
                <a:blip r:embed="rId12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jeZBesedilom 15">
            <a:extLst>
              <a:ext uri="{FF2B5EF4-FFF2-40B4-BE49-F238E27FC236}">
                <a16:creationId xmlns:a16="http://schemas.microsoft.com/office/drawing/2014/main" id="{D54907FA-6A7C-0304-CC0E-88AA0CB92005}"/>
              </a:ext>
            </a:extLst>
          </p:cNvPr>
          <p:cNvSpPr txBox="1"/>
          <p:nvPr/>
        </p:nvSpPr>
        <p:spPr>
          <a:xfrm>
            <a:off x="1890880" y="185375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Eksponenta funkciji</a:t>
            </a:r>
          </a:p>
        </p:txBody>
      </p:sp>
      <p:sp>
        <p:nvSpPr>
          <p:cNvPr id="17" name="PoljeZBesedilom 16">
            <a:extLst>
              <a:ext uri="{FF2B5EF4-FFF2-40B4-BE49-F238E27FC236}">
                <a16:creationId xmlns:a16="http://schemas.microsoft.com/office/drawing/2014/main" id="{05EE944F-9796-EEF8-33B9-307BB2425E29}"/>
              </a:ext>
            </a:extLst>
          </p:cNvPr>
          <p:cNvSpPr txBox="1"/>
          <p:nvPr/>
        </p:nvSpPr>
        <p:spPr>
          <a:xfrm>
            <a:off x="8343043" y="1842355"/>
            <a:ext cx="1821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Potenčna funkcija</a:t>
            </a:r>
          </a:p>
        </p:txBody>
      </p:sp>
    </p:spTree>
    <p:extLst>
      <p:ext uri="{BB962C8B-B14F-4D97-AF65-F5344CB8AC3E}">
        <p14:creationId xmlns:p14="http://schemas.microsoft.com/office/powerpoint/2010/main" val="1341691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A119897-072B-E829-2ABF-FF6B829B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Eksponentna VS potenčna funkcija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jeZBesedilom 9">
                <a:extLst>
                  <a:ext uri="{FF2B5EF4-FFF2-40B4-BE49-F238E27FC236}">
                    <a16:creationId xmlns:a16="http://schemas.microsoft.com/office/drawing/2014/main" id="{3DE87951-5256-C113-C25A-CCEC0526EEBB}"/>
                  </a:ext>
                </a:extLst>
              </p:cNvPr>
              <p:cNvSpPr txBox="1"/>
              <p:nvPr/>
            </p:nvSpPr>
            <p:spPr>
              <a:xfrm>
                <a:off x="1054355" y="2211687"/>
                <a:ext cx="3648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sl-SI" sz="28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l-SI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sl-SI" sz="28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sl-SI" sz="28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sl-SI" sz="28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l-SI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sl-SI" sz="2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sz="28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sz="2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2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10" name="PoljeZBesedilom 9">
                <a:extLst>
                  <a:ext uri="{FF2B5EF4-FFF2-40B4-BE49-F238E27FC236}">
                    <a16:creationId xmlns:a16="http://schemas.microsoft.com/office/drawing/2014/main" id="{3DE87951-5256-C113-C25A-CCEC0526E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355" y="2211687"/>
                <a:ext cx="364827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jeZBesedilom 13">
                <a:extLst>
                  <a:ext uri="{FF2B5EF4-FFF2-40B4-BE49-F238E27FC236}">
                    <a16:creationId xmlns:a16="http://schemas.microsoft.com/office/drawing/2014/main" id="{43F216D9-68FE-9F03-D026-D0D9C38F8AA9}"/>
                  </a:ext>
                </a:extLst>
              </p:cNvPr>
              <p:cNvSpPr txBox="1"/>
              <p:nvPr/>
            </p:nvSpPr>
            <p:spPr>
              <a:xfrm>
                <a:off x="7489377" y="2288631"/>
                <a:ext cx="35146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l-SI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l-SI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l-SI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sl-SI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sl-SI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sl-SI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sl-SI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sl-SI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l-SI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PoljeZBesedilom 13">
                <a:extLst>
                  <a:ext uri="{FF2B5EF4-FFF2-40B4-BE49-F238E27FC236}">
                    <a16:creationId xmlns:a16="http://schemas.microsoft.com/office/drawing/2014/main" id="{43F216D9-68FE-9F03-D026-D0D9C38F8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377" y="2288631"/>
                <a:ext cx="3514610" cy="369332"/>
              </a:xfrm>
              <a:prstGeom prst="rect">
                <a:avLst/>
              </a:prstGeom>
              <a:blipFill>
                <a:blip r:embed="rId3"/>
                <a:stretch>
                  <a:fillRect r="-868" b="-36066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F125D058-2E33-EFAE-C798-934E5CB0013F}"/>
              </a:ext>
            </a:extLst>
          </p:cNvPr>
          <p:cNvSpPr txBox="1"/>
          <p:nvPr/>
        </p:nvSpPr>
        <p:spPr>
          <a:xfrm>
            <a:off x="1054355" y="2815841"/>
            <a:ext cx="355496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l-SI" dirty="0"/>
              <a:t>V grafu, ki ima logaritemsko skalo na y osi, lahko pričakujemo premico.</a:t>
            </a:r>
          </a:p>
        </p:txBody>
      </p:sp>
      <p:sp>
        <p:nvSpPr>
          <p:cNvPr id="16" name="PoljeZBesedilom 15">
            <a:extLst>
              <a:ext uri="{FF2B5EF4-FFF2-40B4-BE49-F238E27FC236}">
                <a16:creationId xmlns:a16="http://schemas.microsoft.com/office/drawing/2014/main" id="{D54907FA-6A7C-0304-CC0E-88AA0CB92005}"/>
              </a:ext>
            </a:extLst>
          </p:cNvPr>
          <p:cNvSpPr txBox="1"/>
          <p:nvPr/>
        </p:nvSpPr>
        <p:spPr>
          <a:xfrm>
            <a:off x="1890880" y="185375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Eksponenta funkciji</a:t>
            </a:r>
          </a:p>
        </p:txBody>
      </p:sp>
      <p:sp>
        <p:nvSpPr>
          <p:cNvPr id="17" name="PoljeZBesedilom 16">
            <a:extLst>
              <a:ext uri="{FF2B5EF4-FFF2-40B4-BE49-F238E27FC236}">
                <a16:creationId xmlns:a16="http://schemas.microsoft.com/office/drawing/2014/main" id="{05EE944F-9796-EEF8-33B9-307BB2425E29}"/>
              </a:ext>
            </a:extLst>
          </p:cNvPr>
          <p:cNvSpPr txBox="1"/>
          <p:nvPr/>
        </p:nvSpPr>
        <p:spPr>
          <a:xfrm>
            <a:off x="8343043" y="1842355"/>
            <a:ext cx="1821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Potenčna funkcija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E621D1BB-8B29-A9CC-E030-18429389E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31" y="3429000"/>
            <a:ext cx="4189994" cy="3003210"/>
          </a:xfrm>
          <a:prstGeom prst="rect">
            <a:avLst/>
          </a:prstGeom>
        </p:spPr>
      </p:pic>
      <p:pic>
        <p:nvPicPr>
          <p:cNvPr id="19" name="Slika 18">
            <a:extLst>
              <a:ext uri="{FF2B5EF4-FFF2-40B4-BE49-F238E27FC236}">
                <a16:creationId xmlns:a16="http://schemas.microsoft.com/office/drawing/2014/main" id="{1FCBD737-A456-5F3D-2A4D-FC2C3E521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452" y="3343398"/>
            <a:ext cx="4662032" cy="3321698"/>
          </a:xfrm>
          <a:prstGeom prst="rect">
            <a:avLst/>
          </a:prstGeom>
        </p:spPr>
      </p:pic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CD497FE0-7D0F-D873-1C45-806B70D03F51}"/>
              </a:ext>
            </a:extLst>
          </p:cNvPr>
          <p:cNvSpPr txBox="1"/>
          <p:nvPr/>
        </p:nvSpPr>
        <p:spPr>
          <a:xfrm>
            <a:off x="7303984" y="2734907"/>
            <a:ext cx="355496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l-SI" dirty="0"/>
              <a:t>V grafu, ki ima logaritemsko skalo na y in x osi, lahko pričakujemo premico.</a:t>
            </a:r>
          </a:p>
        </p:txBody>
      </p:sp>
    </p:spTree>
    <p:extLst>
      <p:ext uri="{BB962C8B-B14F-4D97-AF65-F5344CB8AC3E}">
        <p14:creationId xmlns:p14="http://schemas.microsoft.com/office/powerpoint/2010/main" val="733457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78">
            <a:extLst>
              <a:ext uri="{FF2B5EF4-FFF2-40B4-BE49-F238E27FC236}">
                <a16:creationId xmlns:a16="http://schemas.microsoft.com/office/drawing/2014/main" id="{A27F90C0-6841-4262-975F-D9C3AB50C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22AE7EF9-769D-42F9-9430-F2DF739C9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PoljeZBesedilom 73">
            <a:extLst>
              <a:ext uri="{FF2B5EF4-FFF2-40B4-BE49-F238E27FC236}">
                <a16:creationId xmlns:a16="http://schemas.microsoft.com/office/drawing/2014/main" id="{82C6CFEC-AE91-4730-9DD2-6D72D9CC2C3B}"/>
              </a:ext>
            </a:extLst>
          </p:cNvPr>
          <p:cNvSpPr txBox="1"/>
          <p:nvPr/>
        </p:nvSpPr>
        <p:spPr>
          <a:xfrm>
            <a:off x="-301" y="-11430"/>
            <a:ext cx="12191694" cy="64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sl-SI" sz="3200" cap="all" dirty="0">
                <a:latin typeface="+mj-lt"/>
                <a:ea typeface="+mj-ea"/>
                <a:cs typeface="+mj-cs"/>
              </a:rPr>
              <a:t>Delo pri vajah</a:t>
            </a:r>
            <a:endParaRPr lang="en-US" sz="3200" cap="all" dirty="0">
              <a:latin typeface="+mj-lt"/>
              <a:ea typeface="+mj-ea"/>
              <a:cs typeface="+mj-cs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511E2EF0-3BCB-402C-B2C1-C6FC2BA74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9" name="Straight Connector 84">
            <a:extLst>
              <a:ext uri="{FF2B5EF4-FFF2-40B4-BE49-F238E27FC236}">
                <a16:creationId xmlns:a16="http://schemas.microsoft.com/office/drawing/2014/main" id="{BF68608F-34C2-43D6-84DB-5A870495E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oljeZBesedilom 2">
            <a:extLst>
              <a:ext uri="{FF2B5EF4-FFF2-40B4-BE49-F238E27FC236}">
                <a16:creationId xmlns:a16="http://schemas.microsoft.com/office/drawing/2014/main" id="{B2F1EBDB-C57D-4C75-930F-009943BE0D7F}"/>
              </a:ext>
            </a:extLst>
          </p:cNvPr>
          <p:cNvSpPr txBox="1"/>
          <p:nvPr/>
        </p:nvSpPr>
        <p:spPr>
          <a:xfrm>
            <a:off x="70454" y="1582729"/>
            <a:ext cx="11384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Izdelaj program, ki bo sledil opisanemu modelu. </a:t>
            </a:r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63650CC-38A1-4D73-9E96-98E90FE04AB3}"/>
              </a:ext>
            </a:extLst>
          </p:cNvPr>
          <p:cNvSpPr txBox="1"/>
          <p:nvPr/>
        </p:nvSpPr>
        <p:spPr>
          <a:xfrm>
            <a:off x="70454" y="2518229"/>
            <a:ext cx="11384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 programom preuči: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b="1" dirty="0">
                <a:solidFill>
                  <a:srgbClr val="202122"/>
                </a:solidFill>
                <a:latin typeface="Arial" panose="020B0604020202020204" pitchFamily="34" charset="0"/>
              </a:rPr>
              <a:t>k</a:t>
            </a:r>
            <a:r>
              <a:rPr lang="sl-SI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ako se velikost plazov spreminja v teku simulacije?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b="1" dirty="0">
                <a:solidFill>
                  <a:srgbClr val="202122"/>
                </a:solidFill>
                <a:latin typeface="Arial" panose="020B0604020202020204" pitchFamily="34" charset="0"/>
              </a:rPr>
              <a:t>Porazdelitev velikosti plazov</a:t>
            </a:r>
            <a:endParaRPr lang="sl-SI" b="1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Ovrednoti kako dobro se dobljeni porazdelitvi prilagaja potenčna funkcija</a:t>
            </a:r>
          </a:p>
        </p:txBody>
      </p:sp>
    </p:spTree>
    <p:extLst>
      <p:ext uri="{BB962C8B-B14F-4D97-AF65-F5344CB8AC3E}">
        <p14:creationId xmlns:p14="http://schemas.microsoft.com/office/powerpoint/2010/main" val="2926729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86C5AD-040A-7AB5-5452-ADA284CCB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6" y="804520"/>
            <a:ext cx="12108023" cy="557750"/>
          </a:xfrm>
        </p:spPr>
        <p:txBody>
          <a:bodyPr/>
          <a:lstStyle/>
          <a:p>
            <a:r>
              <a:rPr lang="sl-SI" dirty="0"/>
              <a:t>Domača naloga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3637BBF-7C9D-E52B-0ED0-75C4C1FBE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2"/>
            <a:ext cx="11054854" cy="1772497"/>
          </a:xfrm>
        </p:spPr>
        <p:txBody>
          <a:bodyPr/>
          <a:lstStyle/>
          <a:p>
            <a:pPr marL="0" indent="0">
              <a:buNone/>
            </a:pPr>
            <a:r>
              <a:rPr lang="sl-SI" dirty="0"/>
              <a:t>Analiziraj porazdelitev velikosti plazov in določi konstante prilagojene funkcije v primeru ko:</a:t>
            </a:r>
          </a:p>
          <a:p>
            <a:pPr lvl="1"/>
            <a:r>
              <a:rPr lang="sl-SI" dirty="0"/>
              <a:t>Panel A:  V lin(x)-lin(y) grafu, prilagodimo potenčno funkcijo</a:t>
            </a:r>
          </a:p>
          <a:p>
            <a:pPr lvl="1"/>
            <a:r>
              <a:rPr lang="sl-SI" dirty="0"/>
              <a:t>Panel B:  po ustrezni </a:t>
            </a:r>
            <a:r>
              <a:rPr lang="sl-SI" dirty="0" err="1"/>
              <a:t>linearizaciji</a:t>
            </a:r>
            <a:r>
              <a:rPr lang="sl-SI" dirty="0"/>
              <a:t> podatkov določimo parametre za eksponentno</a:t>
            </a:r>
          </a:p>
          <a:p>
            <a:pPr lvl="1"/>
            <a:r>
              <a:rPr lang="sl-SI" dirty="0"/>
              <a:t>Panel C:  po ustrezni </a:t>
            </a:r>
            <a:r>
              <a:rPr lang="sl-SI" dirty="0" err="1"/>
              <a:t>linearizaciji</a:t>
            </a:r>
            <a:r>
              <a:rPr lang="sl-SI" dirty="0"/>
              <a:t> podatkov določimo parametre za potenčno</a:t>
            </a:r>
          </a:p>
          <a:p>
            <a:pPr lvl="1"/>
            <a:endParaRPr lang="sl-SI" dirty="0"/>
          </a:p>
          <a:p>
            <a:endParaRPr lang="sl-SI" dirty="0"/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PoljeZBesedilom 3">
            <a:extLst>
              <a:ext uri="{FF2B5EF4-FFF2-40B4-BE49-F238E27FC236}">
                <a16:creationId xmlns:a16="http://schemas.microsoft.com/office/drawing/2014/main" id="{1CDAFBA6-7710-7AFE-13F8-55755B32D4D7}"/>
              </a:ext>
            </a:extLst>
          </p:cNvPr>
          <p:cNvSpPr txBox="1"/>
          <p:nvPr/>
        </p:nvSpPr>
        <p:spPr>
          <a:xfrm>
            <a:off x="361538" y="4203771"/>
            <a:ext cx="11384946" cy="175432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sl-SI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Uporabite program in preučite, kako vpliva mejna vrednost strmine, pri kateri se sproži plaz na dinamiko sistema. Rezultate komentirajte.</a:t>
            </a:r>
          </a:p>
          <a:p>
            <a:pPr algn="just"/>
            <a:endParaRPr lang="sl-SI" b="1" i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sl-SI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Program preoblikujte tako, da se vsako iteracijo doda le eno zrno peska. </a:t>
            </a:r>
            <a:r>
              <a:rPr lang="sl-SI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Ko strmina v določenem polju preseže kritično vrednost, pa se le eno zrno odda. Kateri od sosedov pa prejme zrno, se določi naključno. Na podoben način analiziraj dinamiko sistema in komentiraj rezultate.</a:t>
            </a:r>
          </a:p>
        </p:txBody>
      </p:sp>
      <p:sp>
        <p:nvSpPr>
          <p:cNvPr id="5" name="Naslov 1">
            <a:extLst>
              <a:ext uri="{FF2B5EF4-FFF2-40B4-BE49-F238E27FC236}">
                <a16:creationId xmlns:a16="http://schemas.microsoft.com/office/drawing/2014/main" id="{E17FD6CE-FF15-F844-1A49-26804F28F06F}"/>
              </a:ext>
            </a:extLst>
          </p:cNvPr>
          <p:cNvSpPr txBox="1">
            <a:spLocks/>
          </p:cNvSpPr>
          <p:nvPr/>
        </p:nvSpPr>
        <p:spPr>
          <a:xfrm>
            <a:off x="0" y="3646021"/>
            <a:ext cx="12108023" cy="55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sl-SI" dirty="0"/>
              <a:t>Dodatna </a:t>
            </a:r>
            <a:r>
              <a:rPr lang="sl-SI" dirty="0" err="1"/>
              <a:t>naloGa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015176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heme/theme1.xml><?xml version="1.0" encoding="utf-8"?>
<a:theme xmlns:a="http://schemas.openxmlformats.org/drawingml/2006/main" name="Galerija">
  <a:themeElements>
    <a:clrScheme name="Galerij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j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j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TM10001114[[fn=Galerija]]</Template>
  <TotalTime>781</TotalTime>
  <Words>902</Words>
  <Application>Microsoft Office PowerPoint</Application>
  <PresentationFormat>Širokozaslonsko</PresentationFormat>
  <Paragraphs>118</Paragraphs>
  <Slides>15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15</vt:i4>
      </vt:variant>
    </vt:vector>
  </HeadingPairs>
  <TitlesOfParts>
    <vt:vector size="20" baseType="lpstr">
      <vt:lpstr>Cambria Math</vt:lpstr>
      <vt:lpstr>Arial</vt:lpstr>
      <vt:lpstr>Calibri</vt:lpstr>
      <vt:lpstr>Gill Sans MT</vt:lpstr>
      <vt:lpstr>Galerija</vt:lpstr>
      <vt:lpstr> Peščeni plazovi</vt:lpstr>
      <vt:lpstr>Kaj bomo počeli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2. Del vaj</vt:lpstr>
      <vt:lpstr>Analiza rezultatov modela plazov (Slika 1)</vt:lpstr>
      <vt:lpstr>Analiza rezultatov modela plazov (Slika 2)</vt:lpstr>
      <vt:lpstr>Analiza rezultatov modela plazov (Slika 3)</vt:lpstr>
      <vt:lpstr>Eksponentna VS potenčna funkcija</vt:lpstr>
      <vt:lpstr>Eksponentna VS potenčna funkcija</vt:lpstr>
      <vt:lpstr>PowerPointova predstavitev</vt:lpstr>
      <vt:lpstr>Domača naloga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Modelska fizika</dc:title>
  <dc:creator>Rene Markovič</dc:creator>
  <cp:lastModifiedBy>Rene Markovič</cp:lastModifiedBy>
  <cp:revision>9</cp:revision>
  <dcterms:created xsi:type="dcterms:W3CDTF">2021-02-25T08:08:57Z</dcterms:created>
  <dcterms:modified xsi:type="dcterms:W3CDTF">2024-10-18T06:43:40Z</dcterms:modified>
</cp:coreProperties>
</file>